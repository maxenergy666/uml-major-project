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Lst>
  <p:notesMasterIdLst>
    <p:notesMasterId r:id="rId8"/>
  </p:notesMasterIdLst>
  <p:sldIdLst>
    <p:sldId id="256" r:id="rId7"/>
    <p:sldId id="257" r:id="rId9"/>
    <p:sldId id="258" r:id="rId10"/>
    <p:sldId id="259" r:id="rId11"/>
    <p:sldId id="260" r:id="rId12"/>
    <p:sldId id="261" r:id="rId13"/>
    <p:sldId id="262" r:id="rId14"/>
    <p:sldId id="264" r:id="rId15"/>
    <p:sldId id="272" r:id="rId16"/>
    <p:sldId id="263" r:id="rId17"/>
    <p:sldId id="267" r:id="rId18"/>
    <p:sldId id="273" r:id="rId19"/>
    <p:sldId id="268" r:id="rId20"/>
    <p:sldId id="269" r:id="rId21"/>
    <p:sldId id="271" r:id="rId22"/>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70" userDrawn="1">
          <p15:clr>
            <a:srgbClr val="747775"/>
          </p15:clr>
        </p15:guide>
        <p15:guide id="2" pos="286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70"/>
        <p:guide pos="286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我们“启航AI”项目的成果汇报。今天，我们将向大家展示一款专为大学生设计的智能职业生涯规划系统。在过去的三次迭代中，我们从一个初步的想法，逐步构建起一个功能完整、设计规范的平台。这份汇报将详细介绍我们的项目历程、核心成果以及未来的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sz="1400" b="0" i="0" u="none" strike="noStrike">
                <a:solidFill>
                  <a:srgbClr val="000000"/>
                </a:solidFill>
              </a:rPr>
              <a:t>这两张图是操作契约（</a:t>
            </a:r>
            <a:r>
              <a:rPr lang="en-US" altLang="zh-CN" sz="1400" b="0" i="0" u="none" strike="noStrike">
                <a:solidFill>
                  <a:srgbClr val="000000"/>
                </a:solidFill>
              </a:rPr>
              <a:t>Operation Contract） </a:t>
            </a:r>
            <a:r>
              <a:rPr lang="zh-CN" altLang="en-US" sz="1400" b="0" i="0" u="none" strike="noStrike">
                <a:solidFill>
                  <a:srgbClr val="000000"/>
                </a:solidFill>
              </a:rPr>
              <a:t>的具体示例，分别对应简历优化建议（</a:t>
            </a:r>
            <a:r>
              <a:rPr lang="en-US" altLang="zh-CN" sz="1400" b="0" i="0" u="none" strike="noStrike">
                <a:solidFill>
                  <a:srgbClr val="000000"/>
                </a:solidFill>
              </a:rPr>
              <a:t>CO15）</a:t>
            </a:r>
            <a:r>
              <a:rPr lang="zh-CN" altLang="en-US" sz="1400" b="0" i="0" u="none" strike="noStrike">
                <a:solidFill>
                  <a:srgbClr val="000000"/>
                </a:solidFill>
              </a:rPr>
              <a:t>和模拟面试指导（</a:t>
            </a:r>
            <a:r>
              <a:rPr lang="en-US" altLang="zh-CN" sz="1400" b="0" i="0" u="none" strike="noStrike">
                <a:solidFill>
                  <a:srgbClr val="000000"/>
                </a:solidFill>
              </a:rPr>
              <a:t>CO17）。</a:t>
            </a:r>
            <a:r>
              <a:rPr lang="zh-CN" altLang="en-US" sz="1400" b="0" i="0" u="none" strike="noStrike">
                <a:solidFill>
                  <a:srgbClr val="000000"/>
                </a:solidFill>
              </a:rPr>
              <a:t>操作契约的核心作用是精确描述系统操作在执行前后必须满足的状态变化，从而连接“用例分析”与“详细设计”。</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CO15（</a:t>
            </a:r>
            <a:r>
              <a:rPr lang="zh-CN" altLang="en-US" sz="1400" b="0" i="0" u="none" strike="noStrike">
                <a:solidFill>
                  <a:srgbClr val="000000"/>
                </a:solidFill>
              </a:rPr>
              <a:t>生成简历优化建议报告）：规定当用户触发简历优化时，系统必须满足用户画像已生成、简历已解析、岗位信息存在且大模型服务可用等前置条件；执行后则创建一个新的</a:t>
            </a:r>
            <a:r>
              <a:rPr lang="en-US" altLang="zh-CN" sz="1400" b="0" i="0" u="none" strike="noStrike">
                <a:solidFill>
                  <a:srgbClr val="000000"/>
                </a:solidFill>
              </a:rPr>
              <a:t>ResumeOptimizationReport</a:t>
            </a:r>
            <a:r>
              <a:rPr lang="zh-CN" altLang="en-US" sz="1400" b="0" i="0" u="none" strike="noStrike">
                <a:solidFill>
                  <a:srgbClr val="000000"/>
                </a:solidFill>
              </a:rPr>
              <a:t>对象，为其属性赋值（用户</a:t>
            </a:r>
            <a:r>
              <a:rPr lang="en-US" altLang="zh-CN" sz="1400" b="0" i="0" u="none" strike="noStrike">
                <a:solidFill>
                  <a:srgbClr val="000000"/>
                </a:solidFill>
              </a:rPr>
              <a:t>ID、</a:t>
            </a:r>
            <a:r>
              <a:rPr lang="zh-CN" altLang="en-US" sz="1400" b="0" i="0" u="none" strike="noStrike">
                <a:solidFill>
                  <a:srgbClr val="000000"/>
                </a:solidFill>
              </a:rPr>
              <a:t>简历</a:t>
            </a:r>
            <a:r>
              <a:rPr lang="en-US" altLang="zh-CN" sz="1400" b="0" i="0" u="none" strike="noStrike">
                <a:solidFill>
                  <a:srgbClr val="000000"/>
                </a:solidFill>
              </a:rPr>
              <a:t>ID、</a:t>
            </a:r>
            <a:r>
              <a:rPr lang="zh-CN" altLang="en-US" sz="1400" b="0" i="0" u="none" strike="noStrike">
                <a:solidFill>
                  <a:srgbClr val="000000"/>
                </a:solidFill>
              </a:rPr>
              <a:t>岗位</a:t>
            </a:r>
            <a:r>
              <a:rPr lang="en-US" altLang="zh-CN" sz="1400" b="0" i="0" u="none" strike="noStrike">
                <a:solidFill>
                  <a:srgbClr val="000000"/>
                </a:solidFill>
              </a:rPr>
              <a:t>ID、</a:t>
            </a:r>
            <a:r>
              <a:rPr lang="zh-CN" altLang="en-US" sz="1400" b="0" i="0" u="none" strike="noStrike">
                <a:solidFill>
                  <a:srgbClr val="000000"/>
                </a:solidFill>
              </a:rPr>
              <a:t>评分、优化内容等），并与用户建立关联，同时记录生成时间。这为程序员实现“调用大模型→生成报告→保存”提供了明确的设计规格。</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en-US" altLang="zh-CN" sz="1400" b="0" i="0" u="none" strike="noStrike">
                <a:solidFill>
                  <a:srgbClr val="000000"/>
                </a:solidFill>
              </a:rPr>
              <a:t>CO17（</a:t>
            </a:r>
            <a:r>
              <a:rPr lang="zh-CN" altLang="en-US" sz="1400" b="0" i="0" u="none" strike="noStrike">
                <a:solidFill>
                  <a:srgbClr val="000000"/>
                </a:solidFill>
              </a:rPr>
              <a:t>发起模拟面试）：规定发起模拟面试前需确保用户画像与简历已完成、目标岗位信息存在、大模型服务可用且语音模式下麦克风已授权；执行后则创建</a:t>
            </a:r>
            <a:r>
              <a:rPr lang="en-US" altLang="zh-CN" sz="1400" b="0" i="0" u="none" strike="noStrike">
                <a:solidFill>
                  <a:srgbClr val="000000"/>
                </a:solidFill>
              </a:rPr>
              <a:t>MockInterviewRecord</a:t>
            </a:r>
            <a:r>
              <a:rPr lang="zh-CN" altLang="en-US" sz="1400" b="0" i="0" u="none" strike="noStrike">
                <a:solidFill>
                  <a:srgbClr val="000000"/>
                </a:solidFill>
              </a:rPr>
              <a:t>对象，设置用户</a:t>
            </a:r>
            <a:r>
              <a:rPr lang="en-US" altLang="zh-CN" sz="1400" b="0" i="0" u="none" strike="noStrike">
                <a:solidFill>
                  <a:srgbClr val="000000"/>
                </a:solidFill>
              </a:rPr>
              <a:t>ID、</a:t>
            </a:r>
            <a:r>
              <a:rPr lang="zh-CN" altLang="en-US" sz="1400" b="0" i="0" u="none" strike="noStrike">
                <a:solidFill>
                  <a:srgbClr val="000000"/>
                </a:solidFill>
              </a:rPr>
              <a:t>岗位</a:t>
            </a:r>
            <a:r>
              <a:rPr lang="en-US" altLang="zh-CN" sz="1400" b="0" i="0" u="none" strike="noStrike">
                <a:solidFill>
                  <a:srgbClr val="000000"/>
                </a:solidFill>
              </a:rPr>
              <a:t>ID、</a:t>
            </a:r>
            <a:r>
              <a:rPr lang="zh-CN" altLang="en-US" sz="1400" b="0" i="0" u="none" strike="noStrike">
                <a:solidFill>
                  <a:srgbClr val="000000"/>
                </a:solidFill>
              </a:rPr>
              <a:t>面试类型、开始时间，状态设为“进行中”，并与用户和大模型生成的题目池建立关联。这样精确的后置条件指导开发者如何初始化面试会话并存储相关数据。</a:t>
            </a:r>
            <a:endParaRPr lang="zh-CN" altLang="en-US" sz="1400" b="0" i="0" u="none" strike="noStrike">
              <a:solidFill>
                <a:srgbClr val="000000"/>
              </a:solidFill>
            </a:endParaRPr>
          </a:p>
          <a:p>
            <a:pPr marL="0" indent="0" algn="l">
              <a:lnSpc>
                <a:spcPct val="100000"/>
              </a:lnSpc>
            </a:pPr>
            <a:endParaRPr lang="en-US" altLang="zh-CN" sz="1400" b="0" i="0" u="none" strike="noStrike">
              <a:solidFill>
                <a:srgbClr val="000000"/>
              </a:solidFill>
            </a:endParaRPr>
          </a:p>
          <a:p>
            <a:pPr marL="0" indent="0" algn="l">
              <a:lnSpc>
                <a:spcPct val="100000"/>
              </a:lnSpc>
            </a:pPr>
            <a:r>
              <a:rPr lang="zh-CN" altLang="en-US" sz="1400" b="0" i="0" u="none" strike="noStrike">
                <a:solidFill>
                  <a:srgbClr val="000000"/>
                </a:solidFill>
              </a:rPr>
              <a:t>两张契约都采用结构化文本（前置条件列表、后置条件中的对象创建/属性修改/关联建立）来消除设计歧义，确保从需求到代码的过渡有据可依。</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a:solidFill>
                  <a:srgbClr val="000000"/>
                </a:solidFill>
                <a:sym typeface="+mn-ea"/>
              </a:rPr>
              <a:t>这四层架构中，表示层包负责前端界面展示与用户交互，将请求转发给应用层包；应用层包承担业务流程编排与用例调度，既不包含核心业务规则也不直接操作技术细节；核心的业务逻辑则封装在领域层包中，实现用户画像、岗位匹配、测评计算等功能，并通过接口反向依赖基础设施包；基础设施包则提供数据库持久化、大模型调用、外部认证、招聘数据采集等具体技术实现，使领域层与技术方案彻底解耦，从而保证系统的可维护性与可测试性。</a:t>
            </a:r>
            <a:endParaRPr lang="zh-CN" altLang="en-US" b="0" i="0" u="none" strike="noStrike">
              <a:solidFill>
                <a:srgbClr val="000000"/>
              </a:solidFill>
            </a:endParaRPr>
          </a:p>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sz="1400" b="0" i="0" u="none" strike="noStrike">
                <a:solidFill>
                  <a:srgbClr val="000000"/>
                </a:solidFill>
              </a:rPr>
              <a:t>这张逻辑架构图将系统划分为五层：表现层通过</a:t>
            </a:r>
            <a:r>
              <a:rPr lang="en-US" altLang="zh-CN" sz="1400" b="0" i="0" u="none" strike="noStrike">
                <a:solidFill>
                  <a:srgbClr val="000000"/>
                </a:solidFill>
              </a:rPr>
              <a:t>Web</a:t>
            </a:r>
            <a:r>
              <a:rPr lang="zh-CN" altLang="en-US" sz="1400" b="0" i="0" u="none" strike="noStrike">
                <a:solidFill>
                  <a:srgbClr val="000000"/>
                </a:solidFill>
              </a:rPr>
              <a:t>端为用户和管理端提供</a:t>
            </a:r>
            <a:r>
              <a:rPr lang="en-US" altLang="zh-CN" sz="1400" b="0" i="0" u="none" strike="noStrike">
                <a:solidFill>
                  <a:srgbClr val="000000"/>
                </a:solidFill>
              </a:rPr>
              <a:t>HTTPS</a:t>
            </a:r>
            <a:r>
              <a:rPr lang="zh-CN" altLang="en-US" sz="1400" b="0" i="0" u="none" strike="noStrike">
                <a:solidFill>
                  <a:srgbClr val="000000"/>
                </a:solidFill>
              </a:rPr>
              <a:t>访问入口；接入层负责统一鉴权、路由与限流，将请求分发至核心业务层；核心业务层包含用户成长、规划求职、平台管理三大中心，分别处理账号档案与测评画像、职业规划岗位推荐简历面试、以及用户/数据/日志管理等核心业务；平台支撑层则封装</a:t>
            </a:r>
            <a:r>
              <a:rPr lang="en-US" altLang="zh-CN" sz="1400" b="0" i="0" u="none" strike="noStrike">
                <a:solidFill>
                  <a:srgbClr val="000000"/>
                </a:solidFill>
              </a:rPr>
              <a:t>AI</a:t>
            </a:r>
            <a:r>
              <a:rPr lang="zh-CN" altLang="en-US" sz="1400" b="0" i="0" u="none" strike="noStrike">
                <a:solidFill>
                  <a:srgbClr val="000000"/>
                </a:solidFill>
              </a:rPr>
              <a:t>与集成支撑（大模型、</a:t>
            </a:r>
            <a:r>
              <a:rPr lang="en-US" altLang="zh-CN" sz="1400" b="0" i="0" u="none" strike="noStrike">
                <a:solidFill>
                  <a:srgbClr val="000000"/>
                </a:solidFill>
              </a:rPr>
              <a:t>OCR、</a:t>
            </a:r>
            <a:r>
              <a:rPr lang="zh-CN" altLang="en-US" sz="1400" b="0" i="0" u="none" strike="noStrike">
                <a:solidFill>
                  <a:srgbClr val="000000"/>
                </a:solidFill>
              </a:rPr>
              <a:t>认证接口、消息服务）和招聘数据支撑（岗位采集、清洗、更新），为核心业务提供技术能力；数据层统一管理业务数据（用户、画像、岗位、管理数据）和基础资源（缓存、文件、日志报表）。五层之间自上而下依赖，接入层和支撑层解耦了前端、业务逻辑与外部服务，保证了系统的可扩展性和可维护性。</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zh-CN" altLang="en-US" sz="1400" b="0" i="0" u="none" strike="noStrike">
                <a:solidFill>
                  <a:srgbClr val="000000"/>
                </a:solidFill>
              </a:rPr>
              <a:t>这两张图是设计顺序图，分别展示了“生成用户画像”和“查看职业规划建议”两个核心用例中系统内部对象之间的交互过程。用户在前端点击操作后，请求首先到达控制器（如 </a:t>
            </a:r>
            <a:r>
              <a:rPr lang="en-US" altLang="zh-CN" sz="1400" b="0" i="0" u="none" strike="noStrike">
                <a:solidFill>
                  <a:srgbClr val="000000"/>
                </a:solidFill>
              </a:rPr>
              <a:t>UserProfileController </a:t>
            </a:r>
            <a:r>
              <a:rPr lang="zh-CN" altLang="en-US" sz="1400" b="0" i="0" u="none" strike="noStrike">
                <a:solidFill>
                  <a:srgbClr val="000000"/>
                </a:solidFill>
              </a:rPr>
              <a:t>或 </a:t>
            </a:r>
            <a:r>
              <a:rPr lang="en-US" altLang="zh-CN" sz="1400" b="0" i="0" u="none" strike="noStrike">
                <a:solidFill>
                  <a:srgbClr val="000000"/>
                </a:solidFill>
              </a:rPr>
              <a:t>CareerPlanController），</a:t>
            </a:r>
            <a:r>
              <a:rPr lang="zh-CN" altLang="en-US" sz="1400" b="0" i="0" u="none" strike="noStrike">
                <a:solidFill>
                  <a:srgbClr val="000000"/>
                </a:solidFill>
              </a:rPr>
              <a:t>控制器再调用对应的服务层（如 </a:t>
            </a:r>
            <a:r>
              <a:rPr lang="en-US" altLang="zh-CN" sz="1400" b="0" i="0" u="none" strike="noStrike">
                <a:solidFill>
                  <a:srgbClr val="000000"/>
                </a:solidFill>
              </a:rPr>
              <a:t>UserProfileService、CareerPlanService）</a:t>
            </a:r>
            <a:r>
              <a:rPr lang="zh-CN" altLang="en-US" sz="1400" b="0" i="0" u="none" strike="noStrike">
                <a:solidFill>
                  <a:srgbClr val="000000"/>
                </a:solidFill>
              </a:rPr>
              <a:t>编排业务逻辑；服务层一方面从 </a:t>
            </a:r>
            <a:r>
              <a:rPr lang="en-US" altLang="zh-CN" sz="1400" b="0" i="0" u="none" strike="noStrike">
                <a:solidFill>
                  <a:srgbClr val="000000"/>
                </a:solidFill>
              </a:rPr>
              <a:t>Repository/</a:t>
            </a:r>
            <a:r>
              <a:rPr lang="zh-CN" altLang="en-US" sz="1400" b="0" i="0" u="none" strike="noStrike">
                <a:solidFill>
                  <a:srgbClr val="000000"/>
                </a:solidFill>
              </a:rPr>
              <a:t>数据库（如 </a:t>
            </a:r>
            <a:r>
              <a:rPr lang="en-US" altLang="zh-CN" sz="1400" b="0" i="0" u="none" strike="noStrike">
                <a:solidFill>
                  <a:srgbClr val="000000"/>
                </a:solidFill>
              </a:rPr>
              <a:t>UserProfileRepository、JobDatabase）</a:t>
            </a:r>
            <a:r>
              <a:rPr lang="zh-CN" altLang="en-US" sz="1400" b="0" i="0" u="none" strike="noStrike">
                <a:solidFill>
                  <a:srgbClr val="000000"/>
                </a:solidFill>
              </a:rPr>
              <a:t>加载用户画像或岗位数据，另一方面调用 大模型分析服务（</a:t>
            </a:r>
            <a:r>
              <a:rPr lang="en-US" altLang="zh-CN" sz="1400" b="0" i="0" u="none" strike="noStrike">
                <a:solidFill>
                  <a:srgbClr val="000000"/>
                </a:solidFill>
              </a:rPr>
              <a:t>LLMAnalysisService）</a:t>
            </a:r>
            <a:r>
              <a:rPr lang="zh-CN" altLang="en-US" sz="1400" b="0" i="0" u="none" strike="noStrike">
                <a:solidFill>
                  <a:srgbClr val="000000"/>
                </a:solidFill>
              </a:rPr>
              <a:t>生成画像报告或规划建议，最后将结果持久化并返回给用户界面。两图清晰体现了分层调用（控制器→服务→仓储/外部服务）以及领域逻辑与技术实现的解耦，为代码实现提供了精确的交互次序与方法调用指导。</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时间轴清晰地展示了我们三次迭代的演进历程。从第一次的需求分析，到第二次补齐核心功能，再到第三次完成全面的设计与验证，我们一步步构建起整个系统。这个过程完整地实践了从需求到原型验证的软件工程链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4" Type="http://schemas.openxmlformats.org/officeDocument/2006/relationships/notesSlide" Target="../notesSlides/notesSlide3.xml"/><Relationship Id="rId23" Type="http://schemas.openxmlformats.org/officeDocument/2006/relationships/slideLayout" Target="../slideLayouts/slideLayout1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9" Type="http://schemas.openxmlformats.org/officeDocument/2006/relationships/notesSlide" Target="../notesSlides/notesSlide4.xml"/><Relationship Id="rId18" Type="http://schemas.openxmlformats.org/officeDocument/2006/relationships/slideLayout" Target="../slideLayouts/slideLayout12.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9" Type="http://schemas.openxmlformats.org/officeDocument/2006/relationships/notesSlide" Target="../notesSlides/notesSlide5.xml"/><Relationship Id="rId18" Type="http://schemas.openxmlformats.org/officeDocument/2006/relationships/slideLayout" Target="../slideLayouts/slideLayout12.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image" Target="../media/image7.png"/><Relationship Id="rId11" Type="http://schemas.openxmlformats.org/officeDocument/2006/relationships/tags" Target="../tags/tag63.xml"/><Relationship Id="rId10" Type="http://schemas.openxmlformats.org/officeDocument/2006/relationships/tags" Target="../tags/tag6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image" Target="../media/image8.png"/><Relationship Id="rId3" Type="http://schemas.openxmlformats.org/officeDocument/2006/relationships/tags" Target="../tags/tag65.xml"/><Relationship Id="rId2" Type="http://schemas.openxmlformats.org/officeDocument/2006/relationships/tags" Target="../tags/tag64.xml"/><Relationship Id="rId19" Type="http://schemas.openxmlformats.org/officeDocument/2006/relationships/notesSlide" Target="../notesSlides/notesSlide9.xml"/><Relationship Id="rId18" Type="http://schemas.openxmlformats.org/officeDocument/2006/relationships/slideLayout" Target="../slideLayouts/slideLayout14.xml"/><Relationship Id="rId17" Type="http://schemas.openxmlformats.org/officeDocument/2006/relationships/tags" Target="../tags/tag78.xml"/><Relationship Id="rId16" Type="http://schemas.openxmlformats.org/officeDocument/2006/relationships/tags" Target="../tags/tag77.xml"/><Relationship Id="rId15" Type="http://schemas.openxmlformats.org/officeDocument/2006/relationships/tags" Target="../tags/tag76.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8" Type="http://schemas.openxmlformats.org/officeDocument/2006/relationships/notesSlide" Target="../notesSlides/notesSlide12.xml"/><Relationship Id="rId17" Type="http://schemas.openxmlformats.org/officeDocument/2006/relationships/slideLayout" Target="../slideLayouts/slideLayout15.xml"/><Relationship Id="rId16" Type="http://schemas.openxmlformats.org/officeDocument/2006/relationships/image" Target="../media/image14.png"/><Relationship Id="rId15" Type="http://schemas.openxmlformats.org/officeDocument/2006/relationships/image" Target="../media/image13.png"/><Relationship Id="rId14" Type="http://schemas.openxmlformats.org/officeDocument/2006/relationships/image" Target="../media/image12.png"/><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1" Type="http://schemas.openxmlformats.org/officeDocument/2006/relationships/notesSlide" Target="../notesSlides/notesSlide14.xml"/><Relationship Id="rId20" Type="http://schemas.openxmlformats.org/officeDocument/2006/relationships/slideLayout" Target="../slideLayouts/slideLayout12.xml"/><Relationship Id="rId2" Type="http://schemas.openxmlformats.org/officeDocument/2006/relationships/tags" Target="../tags/tag91.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启航AI</a:t>
            </a:r>
            <a:endParaRPr lang="en-US" sz="1100"/>
          </a:p>
        </p:txBody>
      </p:sp>
      <p:sp>
        <p:nvSpPr>
          <p:cNvPr id="4" name="AutoShape 4"/>
          <p:cNvSpPr/>
          <p:nvPr/>
        </p:nvSpPr>
        <p:spPr>
          <a:xfrm>
            <a:off x="1016000" y="3302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大学生职业生涯规划系统</a:t>
            </a:r>
            <a:endParaRPr lang="en-US" sz="1100"/>
          </a:p>
        </p:txBody>
      </p:sp>
      <p:sp>
        <p:nvSpPr>
          <p:cNvPr id="5" name="AutoShape 5"/>
          <p:cNvSpPr/>
          <p:nvPr/>
        </p:nvSpPr>
        <p:spPr>
          <a:xfrm>
            <a:off x="1016000" y="4318000"/>
            <a:ext cx="2540000" cy="254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4699000"/>
            <a:ext cx="1016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三次迭代成果汇报</a:t>
            </a:r>
            <a:b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团队：何家齐、俞欣晨、邓博文 | 日期：2026年5月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项目概述与整体目标</a:t>
            </a:r>
            <a:endParaRPr lang="en-US" sz="1100"/>
          </a:p>
        </p:txBody>
      </p:sp>
      <p:sp>
        <p:nvSpPr>
          <p:cNvPr id="4" name="AutoShape 4"/>
          <p:cNvSpPr/>
          <p:nvPr/>
        </p:nvSpPr>
        <p:spPr>
          <a:xfrm>
            <a:off x="762000" y="1524000"/>
            <a:ext cx="6477000" cy="445135"/>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587500"/>
            <a:ext cx="609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系统定位：AI驱动的大学生智能职业规划平台</a:t>
            </a:r>
            <a:endParaRPr lang="en-US" sz="1100"/>
          </a:p>
        </p:txBody>
      </p:sp>
      <p:sp>
        <p:nvSpPr>
          <p:cNvPr id="8" name="AutoShape 8"/>
          <p:cNvSpPr/>
          <p:nvPr/>
        </p:nvSpPr>
        <p:spPr>
          <a:xfrm>
            <a:off x="762000" y="2260600"/>
            <a:ext cx="2095500" cy="22479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62000" y="2260600"/>
            <a:ext cx="2095500" cy="381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863600" y="2311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多维画像体系</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863600" y="2666365"/>
            <a:ext cx="1905000" cy="177863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融合MBTI性格、霍兰德兴趣与岗位胜任力模型，多维度解析用户特质，构建精准的职业潜力数字化画像。</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2984500" y="2260600"/>
            <a:ext cx="2095500" cy="22479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2984500" y="2260600"/>
            <a:ext cx="2095500" cy="381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086100" y="2311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个性化精准推荐</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3086100" y="2666365"/>
            <a:ext cx="1905000" cy="177863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基于画像数据匹配适配岗位与发展方向，生成可落地的执行方案，拒绝通用模板，让规划更具针对性。</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5207000" y="2299335"/>
            <a:ext cx="2095500" cy="2209165"/>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207000" y="2260600"/>
            <a:ext cx="2095500" cy="381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308600" y="2311400"/>
            <a:ext cx="190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全流程闭环服务</a:t>
            </a:r>
            <a:endPar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5308600" y="2667000"/>
            <a:ext cx="1905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打通从规划到Offer决策的全链路，提供工具支持与行动指引，实现“认知-规划-执行-落地”的完整闭环。</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4699000"/>
            <a:ext cx="6477000" cy="1714500"/>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89000" y="4826000"/>
            <a:ext cx="1460500" cy="635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89000" y="4889500"/>
            <a:ext cx="1460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基础服务模块</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 / 认证 / 信息管理</a:t>
            </a:r>
            <a:endParaRPr lang="en-US" sz="1100"/>
          </a:p>
        </p:txBody>
      </p:sp>
      <p:sp>
        <p:nvSpPr>
          <p:cNvPr id="23" name="AutoShape 23"/>
          <p:cNvSpPr/>
          <p:nvPr/>
        </p:nvSpPr>
        <p:spPr>
          <a:xfrm>
            <a:off x="2438400" y="4826000"/>
            <a:ext cx="1460500" cy="635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2438400" y="4889500"/>
            <a:ext cx="1460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核心引擎模块</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用户智能画像系统</a:t>
            </a:r>
            <a:endParaRPr lang="en-US" sz="1100"/>
          </a:p>
        </p:txBody>
      </p:sp>
      <p:sp>
        <p:nvSpPr>
          <p:cNvPr id="25" name="AutoShape 25"/>
          <p:cNvSpPr/>
          <p:nvPr/>
        </p:nvSpPr>
        <p:spPr>
          <a:xfrm>
            <a:off x="3987800" y="4826000"/>
            <a:ext cx="1460500" cy="635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3987800" y="4889500"/>
            <a:ext cx="1460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求职资源模块</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招聘信息与岗位库</a:t>
            </a:r>
            <a:endParaRPr lang="en-US" sz="1100"/>
          </a:p>
        </p:txBody>
      </p:sp>
      <p:sp>
        <p:nvSpPr>
          <p:cNvPr id="27" name="AutoShape 27"/>
          <p:cNvSpPr/>
          <p:nvPr/>
        </p:nvSpPr>
        <p:spPr>
          <a:xfrm>
            <a:off x="5537200" y="4826000"/>
            <a:ext cx="1587500" cy="635000"/>
          </a:xfrm>
          <a:prstGeom prst="roundRect">
            <a:avLst>
              <a:gd name="adj" fmla="val 0"/>
            </a:avLst>
          </a:prstGeom>
          <a:solidFill>
            <a:srgbClr val="F59E0B">
              <a:alpha val="12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5537200" y="4889500"/>
            <a:ext cx="1587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决策支持模块</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简历/面试/Offer辅助</a:t>
            </a:r>
            <a:endParaRPr lang="en-US" sz="1100"/>
          </a:p>
        </p:txBody>
      </p:sp>
      <p:sp>
        <p:nvSpPr>
          <p:cNvPr id="29" name="AutoShape 29"/>
          <p:cNvSpPr/>
          <p:nvPr/>
        </p:nvSpPr>
        <p:spPr>
          <a:xfrm>
            <a:off x="889000" y="5588000"/>
            <a:ext cx="6223000" cy="698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1016000" y="5626100"/>
            <a:ext cx="59690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七大功能模块协同工作，从基础的账号体系到核心的AI决策能力，共同构成了一个稳健、智能的服务中台，为用户提供流畅、专业的职业规划体验。</a:t>
            </a:r>
            <a:endParaRPr lang="en-US" sz="1100"/>
          </a:p>
        </p:txBody>
      </p:sp>
      <p:cxnSp>
        <p:nvCxnSpPr>
          <p:cNvPr id="31" name="Connector 31"/>
          <p:cNvCxnSpPr/>
          <p:nvPr/>
        </p:nvCxnSpPr>
        <p:spPr>
          <a:xfrm rot="5391070">
            <a:off x="4921250" y="3962408"/>
            <a:ext cx="4889500" cy="12700"/>
          </a:xfrm>
          <a:prstGeom prst="straightConnector1">
            <a:avLst/>
          </a:prstGeom>
          <a:solidFill>
            <a:srgbClr val="DEE0E3">
              <a:alpha val="100000"/>
            </a:srgbClr>
          </a:solidFill>
          <a:ln w="12700" cap="flat" cmpd="sng">
            <a:solidFill>
              <a:srgbClr val="22C55E">
                <a:alpha val="25000"/>
              </a:srgbClr>
            </a:solidFill>
            <a:prstDash val="dash"/>
            <a:round/>
            <a:headEnd type="none" w="med" len="med"/>
            <a:tailEnd type="none" w="med" len="med"/>
          </a:ln>
        </p:spPr>
      </p:cxnSp>
      <p:sp>
        <p:nvSpPr>
          <p:cNvPr id="32" name="AutoShape 32"/>
          <p:cNvSpPr/>
          <p:nvPr/>
        </p:nvSpPr>
        <p:spPr>
          <a:xfrm>
            <a:off x="7556500" y="1524000"/>
            <a:ext cx="4381500" cy="50800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7683500" y="1587500"/>
            <a:ext cx="412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求职全流程闭环引擎</a:t>
            </a:r>
            <a:endParaRPr lang="en-US" sz="1100"/>
          </a:p>
        </p:txBody>
      </p:sp>
      <p:sp>
        <p:nvSpPr>
          <p:cNvPr id="34" name="AutoShape 34"/>
          <p:cNvSpPr/>
          <p:nvPr/>
        </p:nvSpPr>
        <p:spPr>
          <a:xfrm>
            <a:off x="7683500" y="2222500"/>
            <a:ext cx="990600" cy="1079500"/>
          </a:xfrm>
          <a:prstGeom prst="roundRect">
            <a:avLst>
              <a:gd name="adj" fmla="val 0"/>
            </a:avLst>
          </a:prstGeom>
          <a:solidFill>
            <a:srgbClr val="22C55E">
              <a:alpha val="13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7683500" y="2260600"/>
            <a:ext cx="9906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01 规划</a:t>
            </a:r>
            <a:endParaRPr lang="en-US" sz="1100"/>
          </a:p>
        </p:txBody>
      </p:sp>
      <p:sp>
        <p:nvSpPr>
          <p:cNvPr id="36" name="AutoShape 36"/>
          <p:cNvSpPr/>
          <p:nvPr/>
        </p:nvSpPr>
        <p:spPr>
          <a:xfrm>
            <a:off x="7683500" y="2667000"/>
            <a:ext cx="9906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明确职业方向</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锚定发展目标</a:t>
            </a:r>
            <a:endParaRPr lang="en-US" sz="1100"/>
          </a:p>
        </p:txBody>
      </p:sp>
      <p:sp>
        <p:nvSpPr>
          <p:cNvPr id="37" name="AutoShape 37"/>
          <p:cNvSpPr/>
          <p:nvPr/>
        </p:nvSpPr>
        <p:spPr>
          <a:xfrm>
            <a:off x="8724900" y="2222500"/>
            <a:ext cx="990600" cy="1079500"/>
          </a:xfrm>
          <a:prstGeom prst="roundRect">
            <a:avLst>
              <a:gd name="adj" fmla="val 0"/>
            </a:avLst>
          </a:prstGeom>
          <a:solidFill>
            <a:srgbClr val="22C55E">
              <a:alpha val="13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8724900" y="2260600"/>
            <a:ext cx="9906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02 方向</a:t>
            </a:r>
            <a:endParaRPr lang="en-US" sz="1100"/>
          </a:p>
        </p:txBody>
      </p:sp>
      <p:sp>
        <p:nvSpPr>
          <p:cNvPr id="39" name="AutoShape 39"/>
          <p:cNvSpPr/>
          <p:nvPr/>
        </p:nvSpPr>
        <p:spPr>
          <a:xfrm>
            <a:off x="8724900" y="2667000"/>
            <a:ext cx="9906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行业深度调研</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赛道前景分析</a:t>
            </a:r>
            <a:endParaRPr lang="en-US" sz="1100"/>
          </a:p>
        </p:txBody>
      </p:sp>
      <p:sp>
        <p:nvSpPr>
          <p:cNvPr id="40" name="AutoShape 40"/>
          <p:cNvSpPr/>
          <p:nvPr/>
        </p:nvSpPr>
        <p:spPr>
          <a:xfrm>
            <a:off x="9766300" y="2222500"/>
            <a:ext cx="990600" cy="1079500"/>
          </a:xfrm>
          <a:prstGeom prst="roundRect">
            <a:avLst>
              <a:gd name="adj" fmla="val 0"/>
            </a:avLst>
          </a:prstGeom>
          <a:solidFill>
            <a:srgbClr val="22C55E">
              <a:alpha val="13000"/>
            </a:srgbClr>
          </a:solidFill>
          <a:ln w="25400" cap="flat" cmpd="sng">
            <a:noFill/>
            <a:prstDash val="solid"/>
            <a:round/>
          </a:ln>
        </p:spPr>
        <p:txBody>
          <a:bodyPr vert="horz" wrap="square" lIns="63500" tIns="63500" rIns="63500" bIns="63500" rtlCol="0" anchor="ctr"/>
          <a:lstStyle/>
          <a:p>
            <a:pPr algn="ctr">
              <a:defRPr/>
            </a:pPr>
          </a:p>
        </p:txBody>
      </p:sp>
      <p:sp>
        <p:nvSpPr>
          <p:cNvPr id="41" name="AutoShape 41"/>
          <p:cNvSpPr/>
          <p:nvPr/>
        </p:nvSpPr>
        <p:spPr>
          <a:xfrm>
            <a:off x="9766300" y="2260600"/>
            <a:ext cx="9906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03 岗位</a:t>
            </a:r>
            <a:endParaRPr lang="en-US" sz="1100"/>
          </a:p>
        </p:txBody>
      </p:sp>
      <p:sp>
        <p:nvSpPr>
          <p:cNvPr id="42" name="AutoShape 42"/>
          <p:cNvSpPr/>
          <p:nvPr/>
        </p:nvSpPr>
        <p:spPr>
          <a:xfrm>
            <a:off x="9766300" y="2667000"/>
            <a:ext cx="9906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精准岗位匹配</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人岗需求契合</a:t>
            </a:r>
            <a:endParaRPr lang="en-US" sz="1100"/>
          </a:p>
        </p:txBody>
      </p:sp>
      <p:sp>
        <p:nvSpPr>
          <p:cNvPr id="43" name="AutoShape 43"/>
          <p:cNvSpPr/>
          <p:nvPr/>
        </p:nvSpPr>
        <p:spPr>
          <a:xfrm>
            <a:off x="10807700" y="2222500"/>
            <a:ext cx="990600" cy="1079500"/>
          </a:xfrm>
          <a:prstGeom prst="roundRect">
            <a:avLst>
              <a:gd name="adj" fmla="val 0"/>
            </a:avLst>
          </a:prstGeom>
          <a:solidFill>
            <a:srgbClr val="22C55E">
              <a:alpha val="13000"/>
            </a:srgbClr>
          </a:solidFill>
          <a:ln w="25400" cap="flat" cmpd="sng">
            <a:noFill/>
            <a:prstDash val="solid"/>
            <a:round/>
          </a:ln>
        </p:spPr>
        <p:txBody>
          <a:bodyPr vert="horz" wrap="square" lIns="63500" tIns="63500" rIns="63500" bIns="63500" rtlCol="0" anchor="ctr"/>
          <a:lstStyle/>
          <a:p>
            <a:pPr algn="ctr">
              <a:defRPr/>
            </a:pPr>
          </a:p>
        </p:txBody>
      </p:sp>
      <p:sp>
        <p:nvSpPr>
          <p:cNvPr id="44" name="AutoShape 44"/>
          <p:cNvSpPr/>
          <p:nvPr/>
        </p:nvSpPr>
        <p:spPr>
          <a:xfrm>
            <a:off x="10807700" y="2260600"/>
            <a:ext cx="9906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04 提升</a:t>
            </a:r>
            <a:endParaRPr lang="en-US" sz="1100"/>
          </a:p>
        </p:txBody>
      </p:sp>
      <p:sp>
        <p:nvSpPr>
          <p:cNvPr id="45" name="AutoShape 45"/>
          <p:cNvSpPr/>
          <p:nvPr/>
        </p:nvSpPr>
        <p:spPr>
          <a:xfrm>
            <a:off x="10807700" y="2667000"/>
            <a:ext cx="9906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能力差距分析</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针对性充电</a:t>
            </a:r>
            <a:endParaRPr lang="en-US" sz="1100"/>
          </a:p>
        </p:txBody>
      </p:sp>
      <p:sp>
        <p:nvSpPr>
          <p:cNvPr id="46" name="AutoShape 46"/>
          <p:cNvSpPr/>
          <p:nvPr/>
        </p:nvSpPr>
        <p:spPr>
          <a:xfrm>
            <a:off x="7810500" y="3492500"/>
            <a:ext cx="1333500" cy="1143000"/>
          </a:xfrm>
          <a:prstGeom prst="roundRect">
            <a:avLst>
              <a:gd name="adj" fmla="val 0"/>
            </a:avLst>
          </a:prstGeom>
          <a:solidFill>
            <a:srgbClr val="3B82F6">
              <a:alpha val="13000"/>
            </a:srgbClr>
          </a:solidFill>
          <a:ln w="25400" cap="flat" cmpd="sng">
            <a:noFill/>
            <a:prstDash val="solid"/>
            <a:round/>
          </a:ln>
        </p:spPr>
        <p:txBody>
          <a:bodyPr vert="horz" wrap="square" lIns="63500" tIns="63500" rIns="63500" bIns="63500" rtlCol="0" anchor="ctr"/>
          <a:lstStyle/>
          <a:p>
            <a:pPr algn="ctr">
              <a:defRPr/>
            </a:pPr>
          </a:p>
        </p:txBody>
      </p:sp>
      <p:sp>
        <p:nvSpPr>
          <p:cNvPr id="47" name="AutoShape 47"/>
          <p:cNvSpPr/>
          <p:nvPr/>
        </p:nvSpPr>
        <p:spPr>
          <a:xfrm>
            <a:off x="7810500" y="3530600"/>
            <a:ext cx="1333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05 简历优化</a:t>
            </a:r>
            <a:endParaRPr lang="en-US" sz="1100"/>
          </a:p>
        </p:txBody>
      </p:sp>
      <p:sp>
        <p:nvSpPr>
          <p:cNvPr id="48" name="AutoShape 48"/>
          <p:cNvSpPr/>
          <p:nvPr/>
        </p:nvSpPr>
        <p:spPr>
          <a:xfrm>
            <a:off x="7810500" y="3937000"/>
            <a:ext cx="1333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AI辅助撰写润色</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突出核心竞争力</a:t>
            </a:r>
            <a:endParaRPr lang="en-US" sz="1100"/>
          </a:p>
        </p:txBody>
      </p:sp>
      <p:sp>
        <p:nvSpPr>
          <p:cNvPr id="49" name="AutoShape 49"/>
          <p:cNvSpPr/>
          <p:nvPr/>
        </p:nvSpPr>
        <p:spPr>
          <a:xfrm>
            <a:off x="9245600" y="3492500"/>
            <a:ext cx="1333500" cy="1143000"/>
          </a:xfrm>
          <a:prstGeom prst="roundRect">
            <a:avLst>
              <a:gd name="adj" fmla="val 0"/>
            </a:avLst>
          </a:prstGeom>
          <a:solidFill>
            <a:srgbClr val="F59E0B">
              <a:alpha val="13000"/>
            </a:srgbClr>
          </a:solidFill>
          <a:ln w="25400" cap="flat" cmpd="sng">
            <a:noFill/>
            <a:prstDash val="solid"/>
            <a:round/>
          </a:ln>
        </p:spPr>
        <p:txBody>
          <a:bodyPr vert="horz" wrap="square" lIns="63500" tIns="63500" rIns="63500" bIns="63500" rtlCol="0" anchor="ctr"/>
          <a:lstStyle/>
          <a:p>
            <a:pPr algn="ctr">
              <a:defRPr/>
            </a:pPr>
          </a:p>
        </p:txBody>
      </p:sp>
      <p:sp>
        <p:nvSpPr>
          <p:cNvPr id="50" name="AutoShape 50"/>
          <p:cNvSpPr/>
          <p:nvPr/>
        </p:nvSpPr>
        <p:spPr>
          <a:xfrm>
            <a:off x="9245600" y="3530600"/>
            <a:ext cx="1333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06 面试辅导</a:t>
            </a:r>
            <a:endParaRPr lang="en-US" sz="1100"/>
          </a:p>
        </p:txBody>
      </p:sp>
      <p:sp>
        <p:nvSpPr>
          <p:cNvPr id="51" name="AutoShape 51"/>
          <p:cNvSpPr/>
          <p:nvPr/>
        </p:nvSpPr>
        <p:spPr>
          <a:xfrm>
            <a:off x="9245600" y="3937000"/>
            <a:ext cx="1333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全真模拟对话</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高频问题预测</a:t>
            </a:r>
            <a:endParaRPr lang="en-US" sz="1100"/>
          </a:p>
        </p:txBody>
      </p:sp>
      <p:sp>
        <p:nvSpPr>
          <p:cNvPr id="52" name="AutoShape 52"/>
          <p:cNvSpPr/>
          <p:nvPr/>
        </p:nvSpPr>
        <p:spPr>
          <a:xfrm>
            <a:off x="10680700" y="3492500"/>
            <a:ext cx="1333500" cy="1143000"/>
          </a:xfrm>
          <a:prstGeom prst="roundRect">
            <a:avLst>
              <a:gd name="adj" fmla="val 0"/>
            </a:avLst>
          </a:prstGeom>
          <a:solidFill>
            <a:srgbClr val="EF4444">
              <a:alpha val="13000"/>
            </a:srgbClr>
          </a:solidFill>
          <a:ln w="25400" cap="flat" cmpd="sng">
            <a:noFill/>
            <a:prstDash val="solid"/>
            <a:round/>
          </a:ln>
        </p:spPr>
        <p:txBody>
          <a:bodyPr vert="horz" wrap="square" lIns="63500" tIns="63500" rIns="63500" bIns="63500" rtlCol="0" anchor="ctr"/>
          <a:lstStyle/>
          <a:p>
            <a:pPr algn="ctr">
              <a:defRPr/>
            </a:pPr>
          </a:p>
        </p:txBody>
      </p:sp>
      <p:sp>
        <p:nvSpPr>
          <p:cNvPr id="53" name="AutoShape 53"/>
          <p:cNvSpPr/>
          <p:nvPr/>
        </p:nvSpPr>
        <p:spPr>
          <a:xfrm>
            <a:off x="10680700" y="3530600"/>
            <a:ext cx="1333500" cy="317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B91C1C"/>
                </a:solidFill>
                <a:latin typeface="Noto Sans SC" panose="020B0200000000000000" charset="-122"/>
                <a:ea typeface="Noto Sans SC" panose="020B0200000000000000" charset="-122"/>
                <a:cs typeface="Noto Sans SC" panose="020B0200000000000000" charset="-122"/>
                <a:sym typeface="Noto Sans SC" panose="020B0200000000000000" charset="-122"/>
              </a:rPr>
              <a:t>07 Offer决策</a:t>
            </a:r>
            <a:endParaRPr lang="en-US" sz="1100"/>
          </a:p>
        </p:txBody>
      </p:sp>
      <p:sp>
        <p:nvSpPr>
          <p:cNvPr id="54" name="AutoShape 54"/>
          <p:cNvSpPr/>
          <p:nvPr/>
        </p:nvSpPr>
        <p:spPr>
          <a:xfrm>
            <a:off x="10680700" y="3937000"/>
            <a:ext cx="13335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多维度对比分析</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理性选择Offer</a:t>
            </a:r>
            <a:endParaRPr lang="en-US" sz="1100"/>
          </a:p>
        </p:txBody>
      </p:sp>
      <p:sp>
        <p:nvSpPr>
          <p:cNvPr id="55" name="AutoShape 55"/>
          <p:cNvSpPr/>
          <p:nvPr/>
        </p:nvSpPr>
        <p:spPr>
          <a:xfrm>
            <a:off x="7683500" y="4826000"/>
            <a:ext cx="4254500" cy="1587500"/>
          </a:xfrm>
          <a:prstGeom prst="roundRect">
            <a:avLst>
              <a:gd name="adj" fmla="val 0"/>
            </a:avLst>
          </a:prstGeom>
          <a:solidFill>
            <a:srgbClr val="F0FDF4">
              <a:alpha val="85000"/>
            </a:srgbClr>
          </a:solidFill>
          <a:ln w="25400" cap="flat" cmpd="sng">
            <a:noFill/>
            <a:prstDash val="solid"/>
            <a:round/>
          </a:ln>
        </p:spPr>
        <p:txBody>
          <a:bodyPr vert="horz" wrap="square" lIns="63500" tIns="63500" rIns="63500" bIns="63500" rtlCol="0" anchor="ctr"/>
          <a:lstStyle/>
          <a:p>
            <a:pPr algn="ctr">
              <a:defRPr/>
            </a:pPr>
          </a:p>
        </p:txBody>
      </p:sp>
      <p:sp>
        <p:nvSpPr>
          <p:cNvPr id="56" name="AutoShape 56"/>
          <p:cNvSpPr/>
          <p:nvPr/>
        </p:nvSpPr>
        <p:spPr>
          <a:xfrm>
            <a:off x="7810500" y="49276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从“迷茫”到“Offer”的关键跃迁</a:t>
            </a:r>
            <a:endParaRPr lang="en-US" sz="1100"/>
          </a:p>
        </p:txBody>
      </p:sp>
      <p:sp>
        <p:nvSpPr>
          <p:cNvPr id="57" name="AutoShape 57"/>
          <p:cNvSpPr/>
          <p:nvPr/>
        </p:nvSpPr>
        <p:spPr>
          <a:xfrm>
            <a:off x="7810500" y="5397500"/>
            <a:ext cx="4000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7步核心业务流程，借助AI实现从校园到职场的顺利过渡。</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三次迭代核心产出概览</a:t>
            </a:r>
            <a:endParaRPr lang="en-US" sz="1100"/>
          </a:p>
        </p:txBody>
      </p:sp>
      <p:sp>
        <p:nvSpPr>
          <p:cNvPr id="4" name="AutoShape 4"/>
          <p:cNvSpPr/>
          <p:nvPr>
            <p:custDataLst>
              <p:tags r:id="rId2"/>
            </p:custDataLst>
          </p:nvPr>
        </p:nvSpPr>
        <p:spPr>
          <a:xfrm>
            <a:off x="762000" y="1651000"/>
            <a:ext cx="34290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8890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22C55E">
                    <a:alpha val="2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custDataLst>
              <p:tags r:id="rId5"/>
            </p:custDataLst>
          </p:nvPr>
        </p:nvSpPr>
        <p:spPr>
          <a:xfrm>
            <a:off x="1778000" y="1905000"/>
            <a:ext cx="228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基础分析模型</a:t>
            </a:r>
            <a:endParaRPr lang="en-US" sz="1100"/>
          </a:p>
        </p:txBody>
      </p:sp>
      <p:sp>
        <p:nvSpPr>
          <p:cNvPr id="8" name="AutoShape 8"/>
          <p:cNvSpPr/>
          <p:nvPr>
            <p:custDataLst>
              <p:tags r:id="rId6"/>
            </p:custDataLst>
          </p:nvPr>
        </p:nvSpPr>
        <p:spPr>
          <a:xfrm>
            <a:off x="889000" y="2667000"/>
            <a:ext cx="3175000" cy="101219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1016000" y="2730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完成需求规格定义，建立系统核心领域与用例基础，为后续开发奠定逻辑基石。</a:t>
            </a:r>
            <a:endPar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8"/>
            </p:custDataLst>
          </p:nvPr>
        </p:nvSpPr>
        <p:spPr>
          <a:xfrm>
            <a:off x="889000" y="3810000"/>
            <a:ext cx="3175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产出4张核心用例图与24个关键用例文本，清晰界定用户与系统交互边界；同时建立2张核心领域模型，梳理业务实体关系，明确系统分析阶段的核心成果交付物。</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9"/>
            </p:custDataLst>
          </p:nvPr>
        </p:nvSpPr>
        <p:spPr>
          <a:xfrm>
            <a:off x="4381500" y="1651000"/>
            <a:ext cx="34290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43815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45085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22C55E">
                    <a:alpha val="2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4" name="AutoShape 14"/>
          <p:cNvSpPr/>
          <p:nvPr>
            <p:custDataLst>
              <p:tags r:id="rId12"/>
            </p:custDataLst>
          </p:nvPr>
        </p:nvSpPr>
        <p:spPr>
          <a:xfrm>
            <a:off x="5397500" y="1905000"/>
            <a:ext cx="228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功能补齐与设计过渡</a:t>
            </a:r>
            <a:endParaRPr lang="en-US" sz="1100"/>
          </a:p>
        </p:txBody>
      </p:sp>
      <p:sp>
        <p:nvSpPr>
          <p:cNvPr id="15" name="AutoShape 15"/>
          <p:cNvSpPr/>
          <p:nvPr>
            <p:custDataLst>
              <p:tags r:id="rId13"/>
            </p:custDataLst>
          </p:nvPr>
        </p:nvSpPr>
        <p:spPr>
          <a:xfrm>
            <a:off x="4508500" y="2667000"/>
            <a:ext cx="3175000" cy="101473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4"/>
            </p:custDataLst>
          </p:nvPr>
        </p:nvSpPr>
        <p:spPr>
          <a:xfrm>
            <a:off x="4635500" y="2730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丰富业务场景用例，从需求分析向系统架构设计平滑过渡，明确执行契约。</a:t>
            </a:r>
            <a:endPar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15"/>
            </p:custDataLst>
          </p:nvPr>
        </p:nvSpPr>
        <p:spPr>
          <a:xfrm>
            <a:off x="4508500" y="3810000"/>
            <a:ext cx="3175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新增简历优化与模拟面试关键业务用例；编写全模块操作契约规范交互逻辑；完成系统逻辑架构设计及UML包图绘制，将业务需求转化为技术实现的初步蓝图。</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custDataLst>
              <p:tags r:id="rId16"/>
            </p:custDataLst>
          </p:nvPr>
        </p:nvSpPr>
        <p:spPr>
          <a:xfrm>
            <a:off x="8001000" y="1651000"/>
            <a:ext cx="3429000" cy="444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17"/>
            </p:custDataLst>
          </p:nvPr>
        </p:nvSpPr>
        <p:spPr>
          <a:xfrm>
            <a:off x="8001000" y="1651000"/>
            <a:ext cx="3429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18"/>
            </p:custDataLst>
          </p:nvPr>
        </p:nvSpPr>
        <p:spPr>
          <a:xfrm>
            <a:off x="8128000" y="1841500"/>
            <a:ext cx="76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22C55E">
                    <a:alpha val="2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1" name="AutoShape 21"/>
          <p:cNvSpPr/>
          <p:nvPr>
            <p:custDataLst>
              <p:tags r:id="rId19"/>
            </p:custDataLst>
          </p:nvPr>
        </p:nvSpPr>
        <p:spPr>
          <a:xfrm>
            <a:off x="9017000" y="1905000"/>
            <a:ext cx="228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设计闭环与原型验证</a:t>
            </a:r>
            <a:endParaRPr lang="en-US" sz="1100"/>
          </a:p>
        </p:txBody>
      </p:sp>
      <p:sp>
        <p:nvSpPr>
          <p:cNvPr id="22" name="AutoShape 22"/>
          <p:cNvSpPr/>
          <p:nvPr>
            <p:custDataLst>
              <p:tags r:id="rId20"/>
            </p:custDataLst>
          </p:nvPr>
        </p:nvSpPr>
        <p:spPr>
          <a:xfrm>
            <a:off x="8128000" y="2667000"/>
            <a:ext cx="3175000" cy="100711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21"/>
            </p:custDataLst>
          </p:nvPr>
        </p:nvSpPr>
        <p:spPr>
          <a:xfrm>
            <a:off x="8255000" y="2730500"/>
            <a:ext cx="292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产出全套系统设计图，落地</a:t>
            </a:r>
            <a:r>
              <a:rPr lang="zh-CN" alt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软件</a:t>
            </a: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原型，完成核心流程与权限的最终验证。</a:t>
            </a:r>
            <a:endPar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custDataLst>
              <p:tags r:id="rId22"/>
            </p:custDataLst>
          </p:nvPr>
        </p:nvSpPr>
        <p:spPr>
          <a:xfrm>
            <a:off x="8128000" y="3810000"/>
            <a:ext cx="3175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产出顺序图、设计类图、部署图等全套设计模型；搭建最小可运行Web原型验证技术可行性；全面测试核心业务流程与角色权限，形成从需求到实现的完整建模闭环。</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92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第一次迭代成果回顾（基础分析模型）</a:t>
            </a:r>
            <a:endParaRPr lang="en-US" sz="1100"/>
          </a:p>
        </p:txBody>
      </p:sp>
      <p:sp>
        <p:nvSpPr>
          <p:cNvPr id="4" name="AutoShape 4"/>
          <p:cNvSpPr/>
          <p:nvPr>
            <p:custDataLst>
              <p:tags r:id="rId2"/>
            </p:custDataLst>
          </p:nvPr>
        </p:nvSpPr>
        <p:spPr>
          <a:xfrm>
            <a:off x="762000" y="1524000"/>
            <a:ext cx="2603500" cy="235077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889000" y="1676400"/>
            <a:ext cx="2349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4张核心用例图</a:t>
            </a:r>
            <a:endPar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5"/>
            </p:custDataLst>
          </p:nvPr>
        </p:nvSpPr>
        <p:spPr>
          <a:xfrm>
            <a:off x="889000" y="2133600"/>
            <a:ext cx="2349500" cy="157797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登录、用户档案、职业发展规划及系统管理四大核心模块</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，清晰界定系统的功能边界与业务覆盖范围。</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6"/>
            </p:custDataLst>
          </p:nvPr>
        </p:nvSpPr>
        <p:spPr>
          <a:xfrm>
            <a:off x="3530600" y="1524000"/>
            <a:ext cx="2603500" cy="236728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custDataLst>
              <p:tags r:id="rId7"/>
            </p:custDataLst>
          </p:nvPr>
        </p:nvSpPr>
        <p:spPr>
          <a:xfrm>
            <a:off x="35306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3657600" y="1676400"/>
            <a:ext cx="2349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24个精选用例</a:t>
            </a:r>
            <a:endPar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9"/>
            </p:custDataLst>
          </p:nvPr>
        </p:nvSpPr>
        <p:spPr>
          <a:xfrm>
            <a:off x="3657600" y="2350135"/>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注册、测评、画像生成、岗位匹配</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等关键业务流程，将用户需求细化为可执行的具体操作场景与步骤。</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0"/>
            </p:custDataLst>
          </p:nvPr>
        </p:nvSpPr>
        <p:spPr>
          <a:xfrm>
            <a:off x="6299200" y="1524000"/>
            <a:ext cx="2603500" cy="2364105"/>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62992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12"/>
            </p:custDataLst>
          </p:nvPr>
        </p:nvSpPr>
        <p:spPr>
          <a:xfrm>
            <a:off x="6426200" y="1676400"/>
            <a:ext cx="2349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2类领域模型</a:t>
            </a:r>
            <a:endPar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3"/>
            </p:custDataLst>
          </p:nvPr>
        </p:nvSpPr>
        <p:spPr>
          <a:xfrm>
            <a:off x="6426200" y="2133600"/>
            <a:ext cx="2349500" cy="158115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学生画像</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规划建议模型、平台运营与招聘推荐模型</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，从业务视角还原核心实体关系，沉淀业务知识。</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4"/>
            </p:custDataLst>
          </p:nvPr>
        </p:nvSpPr>
        <p:spPr>
          <a:xfrm>
            <a:off x="9067800" y="1524000"/>
            <a:ext cx="2603500" cy="2343785"/>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9067800" y="1524000"/>
            <a:ext cx="2603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6"/>
            </p:custDataLst>
          </p:nvPr>
        </p:nvSpPr>
        <p:spPr>
          <a:xfrm>
            <a:off x="9194800" y="1676400"/>
            <a:ext cx="2349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FURPS+</a:t>
            </a:r>
            <a:r>
              <a:rPr lang="zh-CN" alt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需求分析</a:t>
            </a:r>
            <a:endParaRPr lang="zh-CN" alt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17"/>
            </p:custDataLst>
          </p:nvPr>
        </p:nvSpPr>
        <p:spPr>
          <a:xfrm>
            <a:off x="9194800" y="2133600"/>
            <a:ext cx="2349500" cy="157543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a:t>
            </a: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功能、易用性、可靠性、性能</a:t>
            </a: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等维度的全面需求定义，为后续系统开发与测试提供了精准的执行标准。</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06755" y="4141470"/>
            <a:ext cx="10922000" cy="2033905"/>
          </a:xfrm>
          <a:prstGeom prst="roundRect">
            <a:avLst>
              <a:gd name="adj" fmla="val 0"/>
            </a:avLst>
          </a:prstGeom>
          <a:solidFill>
            <a:srgbClr val="ECFDF5">
              <a:alpha val="9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25500" y="4438015"/>
            <a:ext cx="1054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核心：构建“规划→方向→岗位→提升”的职业规划基础闭环</a:t>
            </a:r>
            <a:endParaRPr lang="en-US" sz="20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762000" y="4438015"/>
            <a:ext cx="10541000" cy="178562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本次迭代将</a:t>
            </a:r>
            <a:r>
              <a:rPr lang="en-US" sz="1800" b="1" i="0" u="none" strike="noStrike">
                <a:solidFill>
                  <a:srgbClr val="FF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抽象的业务需求</a:t>
            </a:r>
            <a:r>
              <a:rPr lang="en-US" sz="18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转化为</a:t>
            </a:r>
            <a:r>
              <a:rPr lang="en-US" sz="1800" b="0" i="0" u="none" strike="noStrike">
                <a:solidFill>
                  <a:srgbClr val="FF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可落地的系统分析成果</a:t>
            </a:r>
            <a:r>
              <a:rPr lang="en-US" sz="18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。通过完成</a:t>
            </a:r>
            <a:r>
              <a:rPr lang="en-US" sz="1800" b="0" i="0" u="none" strike="noStrike">
                <a:solidFill>
                  <a:srgbClr val="FF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需求分析</a:t>
            </a:r>
            <a:r>
              <a:rPr lang="en-US" sz="18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800" b="0" i="0" u="none" strike="noStrike">
                <a:solidFill>
                  <a:srgbClr val="FF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面向对象分析</a:t>
            </a:r>
            <a:r>
              <a:rPr lang="en-US" sz="18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的初步模型搭建，明确了系统的核心业务逻辑链路，为后续设计与开发阶段奠定了坚实的逻辑基础，让产品从概念走向可执行的架构蓝图。</a:t>
            </a:r>
            <a:endParaRPr lang="en-US" sz="1800" b="0" i="0" u="none" strike="noStrike">
              <a:solidFill>
                <a:srgbClr val="1F2937">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第二次迭代目标 —— </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求职</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模块完善</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762000" y="1524000"/>
            <a:ext cx="10668000" cy="1143000"/>
          </a:xfrm>
          <a:prstGeom prst="roundRect">
            <a:avLst>
              <a:gd name="adj" fmla="val 0"/>
            </a:avLst>
          </a:prstGeom>
          <a:solidFill>
            <a:srgbClr val="FEF2F2">
              <a:alpha val="92000"/>
            </a:srgbClr>
          </a:solidFill>
          <a:ln w="12700" cap="flat" cmpd="sng">
            <a:solidFill>
              <a:srgbClr val="FCA5A5">
                <a:alpha val="60000"/>
              </a:srgbClr>
            </a:solidFill>
            <a:prstDash val="solid"/>
            <a:round/>
          </a:ln>
        </p:spPr>
        <p:txBody>
          <a:bodyPr vert="horz" wrap="square" lIns="63500" tIns="63500" rIns="63500" bIns="63500" rtlCol="0" anchor="ctr"/>
          <a:lstStyle/>
          <a:p>
            <a:pPr algn="ctr">
              <a:defRPr/>
            </a:pPr>
            <a:endParaRPr sz="1800"/>
          </a:p>
        </p:txBody>
      </p:sp>
      <p:sp>
        <p:nvSpPr>
          <p:cNvPr id="5" name="AutoShape 5"/>
          <p:cNvSpPr/>
          <p:nvPr/>
        </p:nvSpPr>
        <p:spPr>
          <a:xfrm>
            <a:off x="762000" y="1524000"/>
            <a:ext cx="50800" cy="11430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587500"/>
            <a:ext cx="190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初次迭代短板</a:t>
            </a:r>
            <a:endPar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16000" y="2032000"/>
            <a:ext cx="990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a:t>
            </a:r>
            <a:r>
              <a:rPr lang="en-US" sz="18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简历与面试环节的实战指导</a:t>
            </a: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，导致学生求职成功率低。</a:t>
            </a:r>
            <a:endPar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762000" y="2921000"/>
            <a:ext cx="5207000" cy="1841500"/>
          </a:xfrm>
          <a:prstGeom prst="roundRect">
            <a:avLst>
              <a:gd name="adj" fmla="val 0"/>
            </a:avLst>
          </a:prstGeom>
          <a:solidFill>
            <a:srgbClr val="FFFFFF">
              <a:alpha val="9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62000" y="292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52500" y="3048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用例25：智能简历优化建议</a:t>
            </a:r>
            <a:endPar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952500" y="3502660"/>
            <a:ext cx="4826000" cy="119634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基于目标岗位的核心要求，通过NLP技术智能诊断简历内容，自动识别关键经历缺失与表述问题，提供针对性的润色方案与关键词优化。</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2921000"/>
            <a:ext cx="5207000" cy="1841500"/>
          </a:xfrm>
          <a:prstGeom prst="roundRect">
            <a:avLst>
              <a:gd name="adj" fmla="val 0"/>
            </a:avLst>
          </a:prstGeom>
          <a:solidFill>
            <a:srgbClr val="FFFFFF">
              <a:alpha val="95000"/>
            </a:srgbClr>
          </a:solidFill>
          <a:ln w="12700" cap="flat" cmpd="sng">
            <a:solidFill>
              <a:srgbClr val="22C55E">
                <a:alpha val="25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223000" y="2921000"/>
            <a:ext cx="5207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3048000"/>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用例26：AI 模拟面试实战指导</a:t>
            </a:r>
            <a:endPar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413500" y="3503295"/>
            <a:ext cx="4826000" cy="119570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构建岗位专属高频面试题库，模拟真实面试场景进行交互式问答。利用语音识别与语义分析技术，即时对回答的逻辑性、关键词匹配度进行评分反馈，帮助用户在真实面试前完成充分的脱敏训练。</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62000" y="4953000"/>
            <a:ext cx="10668000" cy="1524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89000" y="5143500"/>
            <a:ext cx="1587500" cy="1118235"/>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89000" y="5168900"/>
            <a:ext cx="1587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职业规划</a:t>
            </a:r>
            <a:endParaRPr lang="en-US" sz="1100"/>
          </a:p>
        </p:txBody>
      </p:sp>
      <p:sp>
        <p:nvSpPr>
          <p:cNvPr id="21" name="AutoShape 21"/>
          <p:cNvSpPr/>
          <p:nvPr/>
        </p:nvSpPr>
        <p:spPr>
          <a:xfrm>
            <a:off x="889000" y="5499100"/>
            <a:ext cx="1587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明确发展路径</a:t>
            </a:r>
            <a:endParaRPr lang="en-US"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custDataLst>
              <p:tags r:id="rId2"/>
            </p:custDataLst>
          </p:nvPr>
        </p:nvSpPr>
        <p:spPr>
          <a:xfrm>
            <a:off x="2540000" y="5308600"/>
            <a:ext cx="1905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3" name="AutoShape 23"/>
          <p:cNvSpPr/>
          <p:nvPr>
            <p:custDataLst>
              <p:tags r:id="rId3"/>
            </p:custDataLst>
          </p:nvPr>
        </p:nvSpPr>
        <p:spPr>
          <a:xfrm>
            <a:off x="2794000" y="5143500"/>
            <a:ext cx="1587500" cy="111252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custDataLst>
              <p:tags r:id="rId4"/>
            </p:custDataLst>
          </p:nvPr>
        </p:nvSpPr>
        <p:spPr>
          <a:xfrm>
            <a:off x="2794000" y="5168900"/>
            <a:ext cx="1587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求职方向</a:t>
            </a:r>
            <a:endParaRPr lang="en-US" sz="1100"/>
          </a:p>
        </p:txBody>
      </p:sp>
      <p:sp>
        <p:nvSpPr>
          <p:cNvPr id="25" name="AutoShape 25"/>
          <p:cNvSpPr/>
          <p:nvPr>
            <p:custDataLst>
              <p:tags r:id="rId5"/>
            </p:custDataLst>
          </p:nvPr>
        </p:nvSpPr>
        <p:spPr>
          <a:xfrm>
            <a:off x="2794000" y="5499100"/>
            <a:ext cx="1587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锁定行业赛道</a:t>
            </a:r>
            <a:endParaRPr lang="en-US"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26"/>
          <p:cNvSpPr/>
          <p:nvPr>
            <p:custDataLst>
              <p:tags r:id="rId6"/>
            </p:custDataLst>
          </p:nvPr>
        </p:nvSpPr>
        <p:spPr>
          <a:xfrm>
            <a:off x="4381500" y="5308600"/>
            <a:ext cx="1905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7" name="AutoShape 27"/>
          <p:cNvSpPr/>
          <p:nvPr>
            <p:custDataLst>
              <p:tags r:id="rId7"/>
            </p:custDataLst>
          </p:nvPr>
        </p:nvSpPr>
        <p:spPr>
          <a:xfrm>
            <a:off x="4635500" y="5143500"/>
            <a:ext cx="1587500" cy="1111885"/>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custDataLst>
              <p:tags r:id="rId8"/>
            </p:custDataLst>
          </p:nvPr>
        </p:nvSpPr>
        <p:spPr>
          <a:xfrm>
            <a:off x="4635500" y="5168900"/>
            <a:ext cx="1587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能力提升</a:t>
            </a:r>
            <a:endParaRPr lang="en-US" sz="1100"/>
          </a:p>
        </p:txBody>
      </p:sp>
      <p:sp>
        <p:nvSpPr>
          <p:cNvPr id="29" name="AutoShape 29"/>
          <p:cNvSpPr/>
          <p:nvPr>
            <p:custDataLst>
              <p:tags r:id="rId9"/>
            </p:custDataLst>
          </p:nvPr>
        </p:nvSpPr>
        <p:spPr>
          <a:xfrm>
            <a:off x="4635500" y="5499100"/>
            <a:ext cx="1587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针对性技能补强</a:t>
            </a:r>
            <a:endParaRPr lang="en-US"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custDataLst>
              <p:tags r:id="rId10"/>
            </p:custDataLst>
          </p:nvPr>
        </p:nvSpPr>
        <p:spPr>
          <a:xfrm>
            <a:off x="6286500" y="5308600"/>
            <a:ext cx="1905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1" name="AutoShape 31"/>
          <p:cNvSpPr/>
          <p:nvPr>
            <p:custDataLst>
              <p:tags r:id="rId11"/>
            </p:custDataLst>
          </p:nvPr>
        </p:nvSpPr>
        <p:spPr>
          <a:xfrm>
            <a:off x="6540500" y="5143500"/>
            <a:ext cx="1714500" cy="1111885"/>
          </a:xfrm>
          <a:prstGeom prst="roundRect">
            <a:avLst>
              <a:gd name="adj" fmla="val 0"/>
            </a:avLst>
          </a:prstGeom>
          <a:solidFill>
            <a:srgbClr val="FBBF2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custDataLst>
              <p:tags r:id="rId12"/>
            </p:custDataLst>
          </p:nvPr>
        </p:nvSpPr>
        <p:spPr>
          <a:xfrm>
            <a:off x="6540500" y="5168900"/>
            <a:ext cx="1714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简历打磨</a:t>
            </a:r>
            <a:endParaRPr lang="en-US" sz="1100"/>
          </a:p>
        </p:txBody>
      </p:sp>
      <p:sp>
        <p:nvSpPr>
          <p:cNvPr id="33" name="AutoShape 33"/>
          <p:cNvSpPr/>
          <p:nvPr>
            <p:custDataLst>
              <p:tags r:id="rId13"/>
            </p:custDataLst>
          </p:nvPr>
        </p:nvSpPr>
        <p:spPr>
          <a:xfrm>
            <a:off x="6540500" y="5499100"/>
            <a:ext cx="1714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0"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关键经历精准呈现</a:t>
            </a:r>
            <a:endParaRPr lang="en-US" b="0"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34"/>
          <p:cNvSpPr/>
          <p:nvPr>
            <p:custDataLst>
              <p:tags r:id="rId14"/>
            </p:custDataLst>
          </p:nvPr>
        </p:nvSpPr>
        <p:spPr>
          <a:xfrm>
            <a:off x="8318500" y="5308600"/>
            <a:ext cx="1905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5" name="AutoShape 35"/>
          <p:cNvSpPr/>
          <p:nvPr>
            <p:custDataLst>
              <p:tags r:id="rId15"/>
            </p:custDataLst>
          </p:nvPr>
        </p:nvSpPr>
        <p:spPr>
          <a:xfrm>
            <a:off x="8572500" y="5143500"/>
            <a:ext cx="1714500" cy="1111885"/>
          </a:xfrm>
          <a:prstGeom prst="roundRect">
            <a:avLst>
              <a:gd name="adj" fmla="val 0"/>
            </a:avLst>
          </a:prstGeom>
          <a:solidFill>
            <a:srgbClr val="FBBF2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6" name="AutoShape 36"/>
          <p:cNvSpPr/>
          <p:nvPr>
            <p:custDataLst>
              <p:tags r:id="rId16"/>
            </p:custDataLst>
          </p:nvPr>
        </p:nvSpPr>
        <p:spPr>
          <a:xfrm>
            <a:off x="8572500" y="5168900"/>
            <a:ext cx="1714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面试</a:t>
            </a:r>
            <a:endParaRPr lang="en-US" sz="1100"/>
          </a:p>
        </p:txBody>
      </p:sp>
      <p:sp>
        <p:nvSpPr>
          <p:cNvPr id="37" name="AutoShape 37"/>
          <p:cNvSpPr/>
          <p:nvPr>
            <p:custDataLst>
              <p:tags r:id="rId17"/>
            </p:custDataLst>
          </p:nvPr>
        </p:nvSpPr>
        <p:spPr>
          <a:xfrm>
            <a:off x="8572500" y="5499100"/>
            <a:ext cx="17145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b="0"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实战演练从容应对</a:t>
            </a:r>
            <a:endParaRPr lang="en-US" b="0"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第二次迭代 —— 简历优化与模拟面试核心流程</a:t>
            </a:r>
            <a:endParaRPr lang="en-US" sz="1100"/>
          </a:p>
        </p:txBody>
      </p:sp>
      <p:sp>
        <p:nvSpPr>
          <p:cNvPr id="4" name="AutoShape 4"/>
          <p:cNvSpPr/>
          <p:nvPr/>
        </p:nvSpPr>
        <p:spPr>
          <a:xfrm>
            <a:off x="762000" y="1524000"/>
            <a:ext cx="5270500" cy="247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6764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用例25 简历优化建议（主流程）</a:t>
            </a:r>
            <a:endParaRPr lang="en-US" sz="1100"/>
          </a:p>
        </p:txBody>
      </p:sp>
      <p:sp>
        <p:nvSpPr>
          <p:cNvPr id="7" name="AutoShape 7"/>
          <p:cNvSpPr/>
          <p:nvPr/>
        </p:nvSpPr>
        <p:spPr>
          <a:xfrm>
            <a:off x="952500" y="2222500"/>
            <a:ext cx="2413000" cy="825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41400" y="2260600"/>
            <a:ext cx="2235200" cy="787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多源获取与智能解析</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支持上传、画像生成或岗位定制简历，系统自动提取信息并对标岗位关键词。</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492500" y="2222500"/>
            <a:ext cx="2413000" cy="825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581400" y="2260600"/>
            <a:ext cx="2235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AI 诊断与一键焕新</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大模型生成专业优化报告，提供内容结构建议，支持一键应用并导出标准文档。</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952500" y="31115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多源读取与智能解析，AI诊断与一键焕新，实现智能解析，精准匹配。</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223000" y="1524000"/>
            <a:ext cx="5270500" cy="247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1524000"/>
            <a:ext cx="5270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16764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用例26 模拟面试指导（主流程）</a:t>
            </a:r>
            <a:endParaRPr lang="en-US" sz="1100"/>
          </a:p>
        </p:txBody>
      </p:sp>
      <p:sp>
        <p:nvSpPr>
          <p:cNvPr id="15" name="AutoShape 15"/>
          <p:cNvSpPr/>
          <p:nvPr/>
        </p:nvSpPr>
        <p:spPr>
          <a:xfrm>
            <a:off x="6413500" y="2222500"/>
            <a:ext cx="2413000" cy="825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02400" y="2260600"/>
            <a:ext cx="2235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场景定制与动态交互</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自定义岗位、时长与模式，AI 自动生成题库，逐题追问并模拟真实压力面试。</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8953500" y="2222500"/>
            <a:ext cx="2413000" cy="825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042400" y="2260600"/>
            <a:ext cx="2235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智能评估与成长闭环</a:t>
            </a:r>
            <a:endParaRPr lang="en-US" sz="1100"/>
          </a:p>
          <a:p>
            <a:pPr marL="0" indent="0" algn="l">
              <a:lnSpc>
                <a:spcPct val="100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即时生成维度评分报告，提供改进建议，支持专项训练与历史复盘。</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413500" y="3111500"/>
            <a:ext cx="4889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场景定制与动态交互，智能评估与成长闭环，实现全真模拟，AI陪练。</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4254500"/>
            <a:ext cx="5270500" cy="2222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
          <a:srcRect t="9425" b="9425"/>
          <a:stretch>
            <a:fillRect/>
          </a:stretch>
        </p:blipFill>
        <p:spPr>
          <a:xfrm>
            <a:off x="825500" y="4381500"/>
            <a:ext cx="1714500" cy="1968500"/>
          </a:xfrm>
          <a:prstGeom prst="rect">
            <a:avLst/>
          </a:prstGeom>
          <a:noFill/>
          <a:ln w="25400" cap="flat" cmpd="sng">
            <a:noFill/>
            <a:prstDash val="solid"/>
            <a:round/>
          </a:ln>
        </p:spPr>
      </p:pic>
      <p:sp>
        <p:nvSpPr>
          <p:cNvPr id="22" name="AutoShape 22"/>
          <p:cNvSpPr/>
          <p:nvPr/>
        </p:nvSpPr>
        <p:spPr>
          <a:xfrm>
            <a:off x="2730500" y="4483100"/>
            <a:ext cx="2611120" cy="177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多源读取与智能解析，AI诊断与一键焕新，实现智能解析，精准匹配。</a:t>
            </a:r>
            <a:endParaRPr lang="en-US"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3" name="Connector 23"/>
          <p:cNvCxnSpPr/>
          <p:nvPr/>
        </p:nvCxnSpPr>
        <p:spPr>
          <a:xfrm rot="5380355">
            <a:off x="5048250" y="5359418"/>
            <a:ext cx="2222500" cy="12700"/>
          </a:xfrm>
          <a:prstGeom prst="straightConnector1">
            <a:avLst/>
          </a:prstGeom>
          <a:solidFill>
            <a:srgbClr val="DEE0E3">
              <a:alpha val="100000"/>
            </a:srgbClr>
          </a:solidFill>
          <a:ln w="12700" cap="flat" cmpd="sng">
            <a:solidFill>
              <a:srgbClr val="22C55E">
                <a:alpha val="30000"/>
              </a:srgbClr>
            </a:solidFill>
            <a:prstDash val="dash"/>
            <a:round/>
            <a:headEnd type="none" w="med" len="med"/>
            <a:tailEnd type="none" w="med" len="med"/>
          </a:ln>
        </p:spPr>
      </p:cxnSp>
      <p:sp>
        <p:nvSpPr>
          <p:cNvPr id="24" name="AutoShape 24"/>
          <p:cNvSpPr/>
          <p:nvPr/>
        </p:nvSpPr>
        <p:spPr>
          <a:xfrm>
            <a:off x="6223000" y="4254500"/>
            <a:ext cx="5270500" cy="22225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3"/>
          <a:srcRect l="20629" r="20629"/>
          <a:stretch>
            <a:fillRect/>
          </a:stretch>
        </p:blipFill>
        <p:spPr>
          <a:xfrm>
            <a:off x="6286500" y="4381500"/>
            <a:ext cx="1714500" cy="1968500"/>
          </a:xfrm>
          <a:prstGeom prst="rect">
            <a:avLst/>
          </a:prstGeom>
          <a:noFill/>
          <a:ln w="25400" cap="flat" cmpd="sng">
            <a:noFill/>
            <a:prstDash val="solid"/>
            <a:round/>
          </a:ln>
        </p:spPr>
      </p:pic>
      <p:sp>
        <p:nvSpPr>
          <p:cNvPr id="26" name="AutoShape 26"/>
          <p:cNvSpPr/>
          <p:nvPr/>
        </p:nvSpPr>
        <p:spPr>
          <a:xfrm>
            <a:off x="8191500" y="4483100"/>
            <a:ext cx="2714625" cy="1778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场景定制与动态交互，智能评估与成长闭环，实现全真模拟，AI陪练。</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第二次迭代操作契约</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（核心部分</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显示）</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6"/>
          <p:cNvPicPr>
            <a:picLocks noChangeAspect="1"/>
          </p:cNvPicPr>
          <p:nvPr/>
        </p:nvPicPr>
        <p:blipFill>
          <a:blip r:embed="rId2"/>
          <a:stretch>
            <a:fillRect/>
          </a:stretch>
        </p:blipFill>
        <p:spPr>
          <a:xfrm>
            <a:off x="174625" y="1401445"/>
            <a:ext cx="6129655" cy="5076825"/>
          </a:xfrm>
          <a:prstGeom prst="rect">
            <a:avLst/>
          </a:prstGeom>
        </p:spPr>
      </p:pic>
      <p:pic>
        <p:nvPicPr>
          <p:cNvPr id="8" name="图片 7"/>
          <p:cNvPicPr>
            <a:picLocks noChangeAspect="1"/>
          </p:cNvPicPr>
          <p:nvPr/>
        </p:nvPicPr>
        <p:blipFill>
          <a:blip r:embed="rId3"/>
          <a:stretch>
            <a:fillRect/>
          </a:stretch>
        </p:blipFill>
        <p:spPr>
          <a:xfrm>
            <a:off x="6159500" y="1401445"/>
            <a:ext cx="6352540" cy="5076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次迭代 ——包图</a:t>
            </a:r>
            <a:endParaRPr lang="en-US" sz="1100"/>
          </a:p>
        </p:txBody>
      </p:sp>
      <p:cxnSp>
        <p:nvCxnSpPr>
          <p:cNvPr id="20" name="Connector 20"/>
          <p:cNvCxnSpPr/>
          <p:nvPr/>
        </p:nvCxnSpPr>
        <p:spPr>
          <a:xfrm rot="5390708">
            <a:off x="3873500" y="3994159"/>
            <a:ext cx="4699000" cy="12700"/>
          </a:xfrm>
          <a:prstGeom prst="straightConnector1">
            <a:avLst/>
          </a:prstGeom>
          <a:solidFill>
            <a:srgbClr val="DEE0E3">
              <a:alpha val="100000"/>
            </a:srgbClr>
          </a:solidFill>
          <a:ln w="12700" cap="flat" cmpd="sng">
            <a:solidFill>
              <a:srgbClr val="22C55E">
                <a:alpha val="35000"/>
              </a:srgbClr>
            </a:solidFill>
            <a:prstDash val="dash"/>
            <a:round/>
            <a:headEnd type="none" w="med" len="med"/>
            <a:tailEnd type="none" w="med" len="med"/>
          </a:ln>
        </p:spPr>
      </p:cxnSp>
      <p:sp>
        <p:nvSpPr>
          <p:cNvPr id="21" name="AutoShape 21"/>
          <p:cNvSpPr/>
          <p:nvPr/>
        </p:nvSpPr>
        <p:spPr>
          <a:xfrm>
            <a:off x="7981950" y="1651000"/>
            <a:ext cx="4092575" cy="489077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2"/>
            </p:custDataLst>
          </p:nvPr>
        </p:nvSpPr>
        <p:spPr>
          <a:xfrm>
            <a:off x="8185785" y="1981200"/>
            <a:ext cx="1772920" cy="1709420"/>
          </a:xfrm>
          <a:prstGeom prst="roundRect">
            <a:avLst>
              <a:gd name="adj" fmla="val 0"/>
            </a:avLst>
          </a:prstGeom>
          <a:solidFill>
            <a:srgbClr val="FFFFFF">
              <a:alpha val="95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custDataLst>
              <p:tags r:id="rId3"/>
            </p:custDataLst>
          </p:nvPr>
        </p:nvSpPr>
        <p:spPr>
          <a:xfrm>
            <a:off x="8185785" y="1905635"/>
            <a:ext cx="1759585" cy="76200"/>
          </a:xfrm>
          <a:prstGeom prst="roundRect">
            <a:avLst>
              <a:gd name="adj" fmla="val 0"/>
            </a:avLst>
          </a:prstGeom>
          <a:solidFill>
            <a:srgbClr val="3B82F6">
              <a:alpha val="80000"/>
            </a:srgbClr>
          </a:solidFill>
          <a:ln w="25400" cap="flat" cmpd="sng">
            <a:noFill/>
            <a:prstDash val="solid"/>
            <a:round/>
          </a:ln>
        </p:spPr>
        <p:txBody>
          <a:bodyPr vert="horz" wrap="square" lIns="0" tIns="0" rIns="0" bIns="0" rtlCol="0" anchor="ctr" anchorCtr="0"/>
          <a:lstStyle/>
          <a:p>
            <a:pPr algn="ctr">
              <a:defRPr/>
            </a:pPr>
          </a:p>
        </p:txBody>
      </p:sp>
      <p:sp>
        <p:nvSpPr>
          <p:cNvPr id="24" name="AutoShape 24"/>
          <p:cNvSpPr/>
          <p:nvPr>
            <p:custDataLst>
              <p:tags r:id="rId4"/>
            </p:custDataLst>
          </p:nvPr>
        </p:nvSpPr>
        <p:spPr>
          <a:xfrm>
            <a:off x="8555355" y="2026285"/>
            <a:ext cx="1020445"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UI 表示层包</a:t>
            </a:r>
            <a:endParaRPr lang="en-US" sz="1100"/>
          </a:p>
        </p:txBody>
      </p:sp>
      <p:sp>
        <p:nvSpPr>
          <p:cNvPr id="25" name="AutoShape 25"/>
          <p:cNvSpPr/>
          <p:nvPr>
            <p:custDataLst>
              <p:tags r:id="rId5"/>
            </p:custDataLst>
          </p:nvPr>
        </p:nvSpPr>
        <p:spPr>
          <a:xfrm>
            <a:off x="10168890" y="1978025"/>
            <a:ext cx="1773555" cy="1712595"/>
          </a:xfrm>
          <a:prstGeom prst="roundRect">
            <a:avLst>
              <a:gd name="adj" fmla="val 0"/>
            </a:avLst>
          </a:prstGeom>
          <a:solidFill>
            <a:srgbClr val="FFFFFF">
              <a:alpha val="95000"/>
            </a:srgbClr>
          </a:solidFill>
          <a:ln w="25400" cap="flat" cmpd="sng">
            <a:noFill/>
            <a:prstDash val="solid"/>
            <a:round/>
          </a:ln>
        </p:spPr>
        <p:txBody>
          <a:bodyPr vert="horz" wrap="square" lIns="0" tIns="0" rIns="0" bIns="0" rtlCol="0" anchor="ctr" anchorCtr="0"/>
          <a:lstStyle/>
          <a:p>
            <a:pPr algn="ctr">
              <a:defRPr/>
            </a:pPr>
          </a:p>
        </p:txBody>
      </p:sp>
      <p:sp>
        <p:nvSpPr>
          <p:cNvPr id="26" name="AutoShape 26"/>
          <p:cNvSpPr/>
          <p:nvPr>
            <p:custDataLst>
              <p:tags r:id="rId6"/>
            </p:custDataLst>
          </p:nvPr>
        </p:nvSpPr>
        <p:spPr>
          <a:xfrm>
            <a:off x="10176510" y="1905635"/>
            <a:ext cx="1579880" cy="76835"/>
          </a:xfrm>
          <a:prstGeom prst="roundRect">
            <a:avLst>
              <a:gd name="adj" fmla="val 0"/>
            </a:avLst>
          </a:prstGeom>
          <a:solidFill>
            <a:srgbClr val="F97316">
              <a:alpha val="8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custDataLst>
              <p:tags r:id="rId7"/>
            </p:custDataLst>
          </p:nvPr>
        </p:nvSpPr>
        <p:spPr>
          <a:xfrm>
            <a:off x="10575925" y="2026285"/>
            <a:ext cx="1158875" cy="47688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C2410C"/>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应用层包</a:t>
            </a:r>
            <a:endParaRPr lang="en-US" sz="1100"/>
          </a:p>
        </p:txBody>
      </p:sp>
      <p:sp>
        <p:nvSpPr>
          <p:cNvPr id="28" name="AutoShape 28"/>
          <p:cNvSpPr/>
          <p:nvPr/>
        </p:nvSpPr>
        <p:spPr>
          <a:xfrm>
            <a:off x="8195310" y="4446905"/>
            <a:ext cx="1763395" cy="1902460"/>
          </a:xfrm>
          <a:prstGeom prst="roundRect">
            <a:avLst>
              <a:gd name="adj" fmla="val 0"/>
            </a:avLst>
          </a:prstGeom>
          <a:solidFill>
            <a:srgbClr val="FFFFFF">
              <a:alpha val="95000"/>
            </a:srgbClr>
          </a:solidFill>
          <a:ln w="25400" cap="flat" cmpd="sng">
            <a:noFill/>
            <a:prstDash val="solid"/>
            <a:round/>
          </a:ln>
        </p:spPr>
        <p:txBody>
          <a:bodyPr vert="horz" wrap="square" lIns="0" tIns="0" rIns="0" bIns="0" rtlCol="0" anchor="ctr" anchorCtr="0"/>
          <a:lstStyle/>
          <a:p>
            <a:pPr algn="ctr">
              <a:defRPr/>
            </a:pPr>
          </a:p>
        </p:txBody>
      </p:sp>
      <p:sp>
        <p:nvSpPr>
          <p:cNvPr id="29" name="AutoShape 29"/>
          <p:cNvSpPr/>
          <p:nvPr>
            <p:custDataLst>
              <p:tags r:id="rId8"/>
            </p:custDataLst>
          </p:nvPr>
        </p:nvSpPr>
        <p:spPr>
          <a:xfrm>
            <a:off x="8198485" y="4377690"/>
            <a:ext cx="1760220" cy="76200"/>
          </a:xfrm>
          <a:prstGeom prst="roundRect">
            <a:avLst>
              <a:gd name="adj" fmla="val 0"/>
            </a:avLst>
          </a:prstGeom>
          <a:solidFill>
            <a:srgbClr val="10B981">
              <a:alpha val="8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custDataLst>
              <p:tags r:id="rId9"/>
            </p:custDataLst>
          </p:nvPr>
        </p:nvSpPr>
        <p:spPr>
          <a:xfrm>
            <a:off x="8241030" y="4422775"/>
            <a:ext cx="1661795" cy="60071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47857"/>
                </a:solidFill>
                <a:latin typeface="Noto Sans SC" panose="020B0200000000000000" charset="-122"/>
                <a:ea typeface="Noto Sans SC" panose="020B0200000000000000" charset="-122"/>
                <a:cs typeface="Noto Sans SC" panose="020B0200000000000000" charset="-122"/>
                <a:sym typeface="Noto Sans SC" panose="020B0200000000000000" charset="-122"/>
              </a:rPr>
              <a:t>Domain 领域层包</a:t>
            </a:r>
            <a:endParaRPr lang="en-US" sz="1100"/>
          </a:p>
        </p:txBody>
      </p:sp>
      <p:sp>
        <p:nvSpPr>
          <p:cNvPr id="31" name="AutoShape 31"/>
          <p:cNvSpPr/>
          <p:nvPr/>
        </p:nvSpPr>
        <p:spPr>
          <a:xfrm>
            <a:off x="10175240" y="4447540"/>
            <a:ext cx="1767840" cy="1902460"/>
          </a:xfrm>
          <a:prstGeom prst="roundRect">
            <a:avLst>
              <a:gd name="adj" fmla="val 0"/>
            </a:avLst>
          </a:prstGeom>
          <a:solidFill>
            <a:srgbClr val="FFFFFF">
              <a:alpha val="95000"/>
            </a:srgbClr>
          </a:solidFill>
          <a:ln w="25400" cap="flat" cmpd="sng">
            <a:noFill/>
            <a:prstDash val="solid"/>
            <a:round/>
          </a:ln>
        </p:spPr>
        <p:txBody>
          <a:bodyPr vert="horz" wrap="square" lIns="0" tIns="0" rIns="0" bIns="0" rtlCol="0" anchor="ctr" anchorCtr="0"/>
          <a:lstStyle/>
          <a:p>
            <a:pPr algn="ctr">
              <a:defRPr/>
            </a:pPr>
          </a:p>
        </p:txBody>
      </p:sp>
      <p:sp>
        <p:nvSpPr>
          <p:cNvPr id="32" name="AutoShape 32"/>
          <p:cNvSpPr/>
          <p:nvPr>
            <p:custDataLst>
              <p:tags r:id="rId10"/>
            </p:custDataLst>
          </p:nvPr>
        </p:nvSpPr>
        <p:spPr>
          <a:xfrm>
            <a:off x="10172065" y="4376420"/>
            <a:ext cx="1579880" cy="76200"/>
          </a:xfrm>
          <a:prstGeom prst="roundRect">
            <a:avLst>
              <a:gd name="adj" fmla="val 0"/>
            </a:avLst>
          </a:prstGeom>
          <a:solidFill>
            <a:srgbClr val="8B5CF6">
              <a:alpha val="80000"/>
            </a:srgbClr>
          </a:solidFill>
          <a:ln w="25400" cap="flat" cmpd="sng">
            <a:noFill/>
            <a:prstDash val="solid"/>
            <a:round/>
          </a:ln>
        </p:spPr>
        <p:txBody>
          <a:bodyPr vert="horz" wrap="square" lIns="0" tIns="0" rIns="0" bIns="0" rtlCol="0" anchor="ctr" anchorCtr="0"/>
          <a:lstStyle/>
          <a:p>
            <a:pPr algn="ctr">
              <a:defRPr/>
            </a:pPr>
          </a:p>
        </p:txBody>
      </p:sp>
      <p:sp>
        <p:nvSpPr>
          <p:cNvPr id="33" name="AutoShape 33"/>
          <p:cNvSpPr/>
          <p:nvPr>
            <p:custDataLst>
              <p:tags r:id="rId11"/>
            </p:custDataLst>
          </p:nvPr>
        </p:nvSpPr>
        <p:spPr>
          <a:xfrm>
            <a:off x="10567035" y="4425315"/>
            <a:ext cx="1243965" cy="53530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5B21B6"/>
                </a:solidFill>
                <a:latin typeface="Noto Sans SC" panose="020B0200000000000000" charset="-122"/>
                <a:ea typeface="Noto Sans SC" panose="020B0200000000000000" charset="-122"/>
                <a:cs typeface="Noto Sans SC" panose="020B0200000000000000" charset="-122"/>
                <a:sym typeface="Noto Sans SC" panose="020B0200000000000000" charset="-122"/>
              </a:rPr>
              <a:t>Infrastructure 基础设施包</a:t>
            </a:r>
            <a:endParaRPr lang="en-US" sz="1100"/>
          </a:p>
        </p:txBody>
      </p:sp>
      <p:pic>
        <p:nvPicPr>
          <p:cNvPr id="52" name="图片 16" descr="包图"/>
          <p:cNvPicPr>
            <a:picLocks noChangeAspect="1"/>
          </p:cNvPicPr>
          <p:nvPr/>
        </p:nvPicPr>
        <p:blipFill>
          <a:blip r:embed="rId12"/>
          <a:stretch>
            <a:fillRect/>
          </a:stretch>
        </p:blipFill>
        <p:spPr>
          <a:xfrm>
            <a:off x="434340" y="1651000"/>
            <a:ext cx="7361555" cy="4890770"/>
          </a:xfrm>
          <a:prstGeom prst="rect">
            <a:avLst/>
          </a:prstGeom>
        </p:spPr>
      </p:pic>
      <p:sp>
        <p:nvSpPr>
          <p:cNvPr id="55" name="文本框 54"/>
          <p:cNvSpPr txBox="1"/>
          <p:nvPr/>
        </p:nvSpPr>
        <p:spPr>
          <a:xfrm>
            <a:off x="8342630" y="2428240"/>
            <a:ext cx="1466850" cy="1168400"/>
          </a:xfrm>
          <a:prstGeom prst="rect">
            <a:avLst/>
          </a:prstGeom>
          <a:noFill/>
        </p:spPr>
        <p:txBody>
          <a:bodyPr wrap="square" rtlCol="0">
            <a:spAutoFit/>
          </a:bodyPr>
          <a:p>
            <a:r>
              <a:rPr lang="zh-CN" altLang="en-US" b="1">
                <a:latin typeface="+mn-ea"/>
                <a:ea typeface="+mn-ea"/>
              </a:rPr>
              <a:t>登录认证界面</a:t>
            </a:r>
            <a:endParaRPr lang="en-US" altLang="zh-CN" b="1">
              <a:latin typeface="+mn-ea"/>
              <a:ea typeface="+mn-ea"/>
            </a:endParaRPr>
          </a:p>
          <a:p>
            <a:r>
              <a:rPr lang="zh-CN" altLang="en-US" b="1">
                <a:latin typeface="+mn-ea"/>
                <a:ea typeface="+mn-ea"/>
              </a:rPr>
              <a:t>用户档案界面</a:t>
            </a:r>
            <a:endParaRPr lang="en-US" altLang="zh-CN" b="1">
              <a:latin typeface="+mn-ea"/>
              <a:ea typeface="+mn-ea"/>
            </a:endParaRPr>
          </a:p>
          <a:p>
            <a:r>
              <a:rPr lang="zh-CN" altLang="en-US" b="1">
                <a:latin typeface="+mn-ea"/>
                <a:ea typeface="+mn-ea"/>
              </a:rPr>
              <a:t>画像与规划界面</a:t>
            </a:r>
            <a:endParaRPr lang="en-US" altLang="zh-CN" b="1">
              <a:latin typeface="+mn-ea"/>
              <a:ea typeface="+mn-ea"/>
            </a:endParaRPr>
          </a:p>
          <a:p>
            <a:r>
              <a:rPr lang="zh-CN" altLang="en-US" b="1">
                <a:latin typeface="+mn-ea"/>
                <a:ea typeface="+mn-ea"/>
              </a:rPr>
              <a:t>岗位求职界面</a:t>
            </a:r>
            <a:endParaRPr lang="en-US" altLang="zh-CN" b="1">
              <a:latin typeface="+mn-ea"/>
              <a:ea typeface="+mn-ea"/>
            </a:endParaRPr>
          </a:p>
          <a:p>
            <a:r>
              <a:rPr lang="zh-CN" altLang="en-US" b="1">
                <a:latin typeface="+mn-ea"/>
                <a:ea typeface="+mn-ea"/>
              </a:rPr>
              <a:t>后台管理界面</a:t>
            </a:r>
            <a:endParaRPr lang="zh-CN" altLang="en-US" b="1">
              <a:latin typeface="+mn-ea"/>
              <a:ea typeface="+mn-ea"/>
            </a:endParaRPr>
          </a:p>
        </p:txBody>
      </p:sp>
      <p:sp>
        <p:nvSpPr>
          <p:cNvPr id="56" name="文本框 55"/>
          <p:cNvSpPr txBox="1"/>
          <p:nvPr/>
        </p:nvSpPr>
        <p:spPr>
          <a:xfrm>
            <a:off x="10356215" y="2546985"/>
            <a:ext cx="4064000" cy="1168400"/>
          </a:xfrm>
          <a:prstGeom prst="rect">
            <a:avLst/>
          </a:prstGeom>
          <a:noFill/>
        </p:spPr>
        <p:txBody>
          <a:bodyPr wrap="square" rtlCol="0">
            <a:spAutoFit/>
          </a:bodyPr>
          <a:p>
            <a:r>
              <a:rPr lang="zh-CN" altLang="en-US" b="1">
                <a:latin typeface="+mn-ea"/>
                <a:ea typeface="+mn-ea"/>
              </a:rPr>
              <a:t>画像分析服务</a:t>
            </a:r>
            <a:endParaRPr lang="zh-CN" altLang="en-US" b="1">
              <a:latin typeface="+mn-ea"/>
              <a:ea typeface="+mn-ea"/>
            </a:endParaRPr>
          </a:p>
          <a:p>
            <a:r>
              <a:rPr lang="zh-CN" altLang="en-US" b="1">
                <a:latin typeface="+mn-ea"/>
                <a:ea typeface="+mn-ea"/>
              </a:rPr>
              <a:t>规划求职服务</a:t>
            </a:r>
            <a:endParaRPr lang="en-US" altLang="zh-CN" b="1">
              <a:latin typeface="+mn-ea"/>
              <a:ea typeface="+mn-ea"/>
            </a:endParaRPr>
          </a:p>
          <a:p>
            <a:r>
              <a:rPr lang="zh-CN" altLang="en-US" b="1">
                <a:latin typeface="+mn-ea"/>
                <a:ea typeface="+mn-ea"/>
              </a:rPr>
              <a:t>招聘推荐服务</a:t>
            </a:r>
            <a:endParaRPr lang="en-US" altLang="zh-CN" b="1">
              <a:latin typeface="+mn-ea"/>
              <a:ea typeface="+mn-ea"/>
            </a:endParaRPr>
          </a:p>
          <a:p>
            <a:r>
              <a:rPr lang="zh-CN" altLang="en-US" b="1">
                <a:latin typeface="+mn-ea"/>
                <a:ea typeface="+mn-ea"/>
              </a:rPr>
              <a:t>平台管理服务</a:t>
            </a:r>
            <a:endParaRPr lang="en-US" altLang="zh-CN" b="1">
              <a:latin typeface="+mn-ea"/>
              <a:ea typeface="+mn-ea"/>
            </a:endParaRPr>
          </a:p>
          <a:p>
            <a:r>
              <a:rPr lang="zh-CN" altLang="en-US" b="1">
                <a:latin typeface="+mn-ea"/>
                <a:ea typeface="+mn-ea"/>
              </a:rPr>
              <a:t>用户接入服务</a:t>
            </a:r>
            <a:endParaRPr lang="zh-CN" altLang="en-US" b="1">
              <a:latin typeface="+mn-ea"/>
              <a:ea typeface="+mn-ea"/>
            </a:endParaRPr>
          </a:p>
        </p:txBody>
      </p:sp>
      <p:sp>
        <p:nvSpPr>
          <p:cNvPr id="57" name="文本框 56"/>
          <p:cNvSpPr txBox="1"/>
          <p:nvPr/>
        </p:nvSpPr>
        <p:spPr>
          <a:xfrm>
            <a:off x="8399145" y="4887595"/>
            <a:ext cx="1410335" cy="1168400"/>
          </a:xfrm>
          <a:prstGeom prst="rect">
            <a:avLst/>
          </a:prstGeom>
          <a:noFill/>
        </p:spPr>
        <p:txBody>
          <a:bodyPr wrap="square" rtlCol="0">
            <a:spAutoFit/>
          </a:bodyPr>
          <a:p>
            <a:r>
              <a:rPr lang="zh-CN" altLang="en-US" b="1"/>
              <a:t>档案与测评域</a:t>
            </a:r>
            <a:endParaRPr lang="en-US" altLang="zh-CN" b="1"/>
          </a:p>
          <a:p>
            <a:r>
              <a:rPr lang="zh-CN" altLang="en-US" b="1"/>
              <a:t>用户与认证域</a:t>
            </a:r>
            <a:endParaRPr lang="zh-CN" altLang="en-US" b="1"/>
          </a:p>
          <a:p>
            <a:r>
              <a:rPr lang="zh-CN" altLang="en-US" b="1"/>
              <a:t>画像与规划域</a:t>
            </a:r>
            <a:endParaRPr lang="en-US" altLang="zh-CN" b="1"/>
          </a:p>
          <a:p>
            <a:r>
              <a:rPr lang="zh-CN" altLang="en-US" b="1"/>
              <a:t>岗位推荐域</a:t>
            </a:r>
            <a:endParaRPr lang="en-US" altLang="zh-CN" b="1"/>
          </a:p>
          <a:p>
            <a:r>
              <a:rPr lang="zh-CN" altLang="en-US" b="1"/>
              <a:t>管理审计域</a:t>
            </a:r>
            <a:endParaRPr lang="zh-CN" altLang="en-US" b="1"/>
          </a:p>
        </p:txBody>
      </p:sp>
      <p:sp>
        <p:nvSpPr>
          <p:cNvPr id="58" name="文本框 57"/>
          <p:cNvSpPr txBox="1"/>
          <p:nvPr/>
        </p:nvSpPr>
        <p:spPr>
          <a:xfrm>
            <a:off x="10113010" y="4942205"/>
            <a:ext cx="2152015" cy="1599565"/>
          </a:xfrm>
          <a:prstGeom prst="rect">
            <a:avLst/>
          </a:prstGeom>
          <a:noFill/>
        </p:spPr>
        <p:txBody>
          <a:bodyPr wrap="square" rtlCol="0">
            <a:spAutoFit/>
          </a:bodyPr>
          <a:p>
            <a:r>
              <a:rPr lang="zh-CN" altLang="en-US" b="1"/>
              <a:t>实名认证/学信网接口</a:t>
            </a:r>
            <a:endParaRPr lang="en-US" altLang="zh-CN" b="1"/>
          </a:p>
          <a:p>
            <a:r>
              <a:rPr lang="zh-CN" altLang="en-US" b="1"/>
              <a:t>数据持久化组件（如</a:t>
            </a:r>
            <a:r>
              <a:rPr lang="en-US" altLang="zh-CN" b="1"/>
              <a:t>Repository</a:t>
            </a:r>
            <a:r>
              <a:rPr lang="zh-CN" altLang="en-US" b="1"/>
              <a:t>实现）</a:t>
            </a:r>
            <a:endParaRPr lang="en-US" altLang="zh-CN" b="1"/>
          </a:p>
          <a:p>
            <a:r>
              <a:rPr lang="zh-CN" altLang="en-US" b="1"/>
              <a:t>消息通知组件</a:t>
            </a:r>
            <a:endParaRPr lang="en-US" altLang="zh-CN" b="1"/>
          </a:p>
          <a:p>
            <a:r>
              <a:rPr lang="zh-CN" altLang="en-US" b="1"/>
              <a:t>大模型与</a:t>
            </a:r>
            <a:r>
              <a:rPr lang="en-US" altLang="zh-CN" b="1"/>
              <a:t>OC</a:t>
            </a:r>
            <a:endParaRPr lang="en-US" altLang="zh-CN" b="1"/>
          </a:p>
          <a:p>
            <a:r>
              <a:rPr lang="zh-CN" altLang="en-US" b="1"/>
              <a:t>招聘采集与同步（爬虫）</a:t>
            </a:r>
            <a:endParaRPr lang="en-US" altLang="zh-CN" b="1"/>
          </a:p>
          <a:p>
            <a:r>
              <a:rPr lang="zh-CN" altLang="en-US" b="1"/>
              <a:t>文件与日志组件</a:t>
            </a:r>
            <a:endParaRPr lang="zh-CN"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次迭代 —— 逻辑架构</a:t>
            </a:r>
            <a:endParaRPr lang="en-US" sz="1100"/>
          </a:p>
        </p:txBody>
      </p:sp>
      <p:sp>
        <p:nvSpPr>
          <p:cNvPr id="4" name="AutoShape 4"/>
          <p:cNvSpPr/>
          <p:nvPr/>
        </p:nvSpPr>
        <p:spPr>
          <a:xfrm>
            <a:off x="762000" y="1524000"/>
            <a:ext cx="3335020" cy="41529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2"/>
            </p:custDataLst>
          </p:nvPr>
        </p:nvSpPr>
        <p:spPr>
          <a:xfrm>
            <a:off x="914400" y="3244850"/>
            <a:ext cx="2830195" cy="469900"/>
          </a:xfrm>
          <a:prstGeom prst="roundRect">
            <a:avLst>
              <a:gd name="adj" fmla="val 0"/>
            </a:avLst>
          </a:prstGeom>
          <a:solidFill>
            <a:srgbClr val="F0FDF4">
              <a:alpha val="92000"/>
            </a:srgbClr>
          </a:solidFill>
          <a:ln w="25400" cap="flat" cmpd="sng">
            <a:noFill/>
            <a:prstDash val="solid"/>
            <a:round/>
          </a:ln>
        </p:spPr>
        <p:txBody>
          <a:bodyPr vert="horz" wrap="square" lIns="0" tIns="0" rIns="0" bIns="0" rtlCol="0" anchor="ctr" anchorCtr="0"/>
          <a:lstStyle/>
          <a:p>
            <a:pPr algn="ctr">
              <a:defRPr/>
            </a:pPr>
          </a:p>
        </p:txBody>
      </p:sp>
      <p:sp>
        <p:nvSpPr>
          <p:cNvPr id="13" name="AutoShape 13"/>
          <p:cNvSpPr/>
          <p:nvPr>
            <p:custDataLst>
              <p:tags r:id="rId3"/>
            </p:custDataLst>
          </p:nvPr>
        </p:nvSpPr>
        <p:spPr>
          <a:xfrm>
            <a:off x="1016000" y="3312160"/>
            <a:ext cx="469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核心业务层 Core Business Layer</a:t>
            </a:r>
            <a:endParaRPr lang="en-US" sz="1100"/>
          </a:p>
        </p:txBody>
      </p:sp>
      <p:cxnSp>
        <p:nvCxnSpPr>
          <p:cNvPr id="20" name="Connector 20"/>
          <p:cNvCxnSpPr/>
          <p:nvPr/>
        </p:nvCxnSpPr>
        <p:spPr>
          <a:xfrm rot="5390708">
            <a:off x="1917700" y="3994159"/>
            <a:ext cx="4699000" cy="12700"/>
          </a:xfrm>
          <a:prstGeom prst="straightConnector1">
            <a:avLst/>
          </a:prstGeom>
          <a:solidFill>
            <a:srgbClr val="DEE0E3">
              <a:alpha val="100000"/>
            </a:srgbClr>
          </a:solidFill>
          <a:ln w="12700" cap="flat" cmpd="sng">
            <a:solidFill>
              <a:srgbClr val="22C55E">
                <a:alpha val="35000"/>
              </a:srgbClr>
            </a:solidFill>
            <a:prstDash val="dash"/>
            <a:round/>
            <a:headEnd type="none" w="med" len="med"/>
            <a:tailEnd type="none" w="med" len="med"/>
          </a:ln>
        </p:spPr>
      </p:cxnSp>
      <p:pic>
        <p:nvPicPr>
          <p:cNvPr id="37" name="图片 17" descr="逻辑架构"/>
          <p:cNvPicPr>
            <a:picLocks noChangeAspect="1"/>
          </p:cNvPicPr>
          <p:nvPr/>
        </p:nvPicPr>
        <p:blipFill>
          <a:blip r:embed="rId4"/>
          <a:stretch>
            <a:fillRect/>
          </a:stretch>
        </p:blipFill>
        <p:spPr>
          <a:xfrm>
            <a:off x="4514215" y="1524000"/>
            <a:ext cx="7385050" cy="4937125"/>
          </a:xfrm>
          <a:prstGeom prst="rect">
            <a:avLst/>
          </a:prstGeom>
        </p:spPr>
      </p:pic>
      <p:sp>
        <p:nvSpPr>
          <p:cNvPr id="39" name="AutoShape 9"/>
          <p:cNvSpPr/>
          <p:nvPr>
            <p:custDataLst>
              <p:tags r:id="rId5"/>
            </p:custDataLst>
          </p:nvPr>
        </p:nvSpPr>
        <p:spPr>
          <a:xfrm flipH="1">
            <a:off x="767080" y="3248025"/>
            <a:ext cx="172720" cy="454660"/>
          </a:xfrm>
          <a:prstGeom prst="roundRect">
            <a:avLst>
              <a:gd name="adj" fmla="val 0"/>
            </a:avLst>
          </a:prstGeom>
          <a:solidFill>
            <a:srgbClr val="22C55E">
              <a:alpha val="85000"/>
            </a:srgbClr>
          </a:solidFill>
          <a:ln w="25400" cap="flat" cmpd="sng">
            <a:noFill/>
            <a:prstDash val="solid"/>
            <a:round/>
          </a:ln>
        </p:spPr>
        <p:txBody>
          <a:bodyPr vert="horz" wrap="square" lIns="0" tIns="0" rIns="0" bIns="0" rtlCol="0" anchor="ctr" anchorCtr="0"/>
          <a:lstStyle/>
          <a:p>
            <a:pPr algn="ctr">
              <a:defRPr/>
            </a:pPr>
          </a:p>
        </p:txBody>
      </p:sp>
      <p:sp>
        <p:nvSpPr>
          <p:cNvPr id="40" name="AutoShape 11"/>
          <p:cNvSpPr/>
          <p:nvPr>
            <p:custDataLst>
              <p:tags r:id="rId6"/>
            </p:custDataLst>
          </p:nvPr>
        </p:nvSpPr>
        <p:spPr>
          <a:xfrm>
            <a:off x="944245" y="2649855"/>
            <a:ext cx="1840230" cy="469900"/>
          </a:xfrm>
          <a:prstGeom prst="roundRect">
            <a:avLst>
              <a:gd name="adj" fmla="val 0"/>
            </a:avLst>
          </a:prstGeom>
          <a:solidFill>
            <a:srgbClr val="F0FDF4">
              <a:alpha val="92000"/>
            </a:srgbClr>
          </a:solidFill>
          <a:ln w="25400" cap="flat" cmpd="sng">
            <a:noFill/>
            <a:prstDash val="solid"/>
            <a:round/>
          </a:ln>
        </p:spPr>
        <p:txBody>
          <a:bodyPr vert="horz" wrap="square" lIns="0" tIns="0" rIns="0" bIns="0" rtlCol="0" anchor="ctr" anchorCtr="0"/>
          <a:lstStyle/>
          <a:p>
            <a:pPr algn="ctr">
              <a:defRPr/>
            </a:pPr>
            <a:endParaRPr b="1"/>
          </a:p>
        </p:txBody>
      </p:sp>
      <p:sp>
        <p:nvSpPr>
          <p:cNvPr id="10" name="AutoShape 10"/>
          <p:cNvSpPr/>
          <p:nvPr>
            <p:custDataLst>
              <p:tags r:id="rId7"/>
            </p:custDataLst>
          </p:nvPr>
        </p:nvSpPr>
        <p:spPr>
          <a:xfrm>
            <a:off x="1022985" y="2745105"/>
            <a:ext cx="38989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接入层 Access Layer</a:t>
            </a:r>
            <a:endParaRPr lang="en-US" sz="1100"/>
          </a:p>
        </p:txBody>
      </p:sp>
      <p:sp>
        <p:nvSpPr>
          <p:cNvPr id="43" name="AutoShape 11"/>
          <p:cNvSpPr/>
          <p:nvPr>
            <p:custDataLst>
              <p:tags r:id="rId8"/>
            </p:custDataLst>
          </p:nvPr>
        </p:nvSpPr>
        <p:spPr>
          <a:xfrm>
            <a:off x="914400" y="2054860"/>
            <a:ext cx="2461895" cy="469900"/>
          </a:xfrm>
          <a:prstGeom prst="roundRect">
            <a:avLst>
              <a:gd name="adj" fmla="val 0"/>
            </a:avLst>
          </a:prstGeom>
          <a:solidFill>
            <a:srgbClr val="F0FDF4">
              <a:alpha val="92000"/>
            </a:srgbClr>
          </a:solidFill>
          <a:ln w="25400" cap="flat" cmpd="sng">
            <a:noFill/>
            <a:prstDash val="solid"/>
            <a:round/>
          </a:ln>
        </p:spPr>
        <p:txBody>
          <a:bodyPr vert="horz" wrap="square" lIns="0" tIns="0" rIns="0" bIns="0" rtlCol="0" anchor="ctr" anchorCtr="0"/>
          <a:lstStyle/>
          <a:p>
            <a:pPr algn="ctr">
              <a:defRPr/>
            </a:pPr>
            <a:endParaRPr lang="en-US" b="1"/>
          </a:p>
        </p:txBody>
      </p:sp>
      <p:sp>
        <p:nvSpPr>
          <p:cNvPr id="44" name="AutoShape 9"/>
          <p:cNvSpPr/>
          <p:nvPr>
            <p:custDataLst>
              <p:tags r:id="rId9"/>
            </p:custDataLst>
          </p:nvPr>
        </p:nvSpPr>
        <p:spPr>
          <a:xfrm flipH="1">
            <a:off x="771525" y="2650490"/>
            <a:ext cx="172720" cy="454660"/>
          </a:xfrm>
          <a:prstGeom prst="roundRect">
            <a:avLst>
              <a:gd name="adj" fmla="val 0"/>
            </a:avLst>
          </a:prstGeom>
          <a:solidFill>
            <a:srgbClr val="22C55E">
              <a:alpha val="85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custDataLst>
              <p:tags r:id="rId10"/>
            </p:custDataLst>
          </p:nvPr>
        </p:nvSpPr>
        <p:spPr>
          <a:xfrm>
            <a:off x="1022985" y="2117725"/>
            <a:ext cx="3842385"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表现层 Presentation Layer</a:t>
            </a:r>
            <a:endParaRPr lang="en-US" sz="1100"/>
          </a:p>
        </p:txBody>
      </p:sp>
      <p:sp>
        <p:nvSpPr>
          <p:cNvPr id="45" name="AutoShape 9"/>
          <p:cNvSpPr/>
          <p:nvPr>
            <p:custDataLst>
              <p:tags r:id="rId11"/>
            </p:custDataLst>
          </p:nvPr>
        </p:nvSpPr>
        <p:spPr>
          <a:xfrm flipH="1">
            <a:off x="771525" y="2059940"/>
            <a:ext cx="172720" cy="454660"/>
          </a:xfrm>
          <a:prstGeom prst="roundRect">
            <a:avLst>
              <a:gd name="adj" fmla="val 0"/>
            </a:avLst>
          </a:prstGeom>
          <a:solidFill>
            <a:srgbClr val="22C55E">
              <a:alpha val="85000"/>
            </a:srgbClr>
          </a:solidFill>
          <a:ln w="25400" cap="flat" cmpd="sng">
            <a:noFill/>
            <a:prstDash val="solid"/>
            <a:round/>
          </a:ln>
        </p:spPr>
        <p:txBody>
          <a:bodyPr vert="horz" wrap="square" lIns="0" tIns="0" rIns="0" bIns="0" rtlCol="0" anchor="ctr" anchorCtr="0"/>
          <a:lstStyle/>
          <a:p>
            <a:pPr algn="ctr">
              <a:defRPr/>
            </a:pPr>
          </a:p>
        </p:txBody>
      </p:sp>
      <p:sp>
        <p:nvSpPr>
          <p:cNvPr id="46" name="AutoShape 9"/>
          <p:cNvSpPr/>
          <p:nvPr>
            <p:custDataLst>
              <p:tags r:id="rId12"/>
            </p:custDataLst>
          </p:nvPr>
        </p:nvSpPr>
        <p:spPr>
          <a:xfrm flipH="1">
            <a:off x="771525" y="3852545"/>
            <a:ext cx="172720" cy="454660"/>
          </a:xfrm>
          <a:prstGeom prst="roundRect">
            <a:avLst>
              <a:gd name="adj" fmla="val 0"/>
            </a:avLst>
          </a:prstGeom>
          <a:solidFill>
            <a:srgbClr val="22C55E">
              <a:alpha val="85000"/>
            </a:srgbClr>
          </a:solidFill>
          <a:ln w="25400" cap="flat" cmpd="sng">
            <a:noFill/>
            <a:prstDash val="solid"/>
            <a:round/>
          </a:ln>
        </p:spPr>
        <p:txBody>
          <a:bodyPr vert="horz" wrap="square" lIns="0" tIns="0" rIns="0" bIns="0" rtlCol="0" anchor="ctr" anchorCtr="0"/>
          <a:lstStyle/>
          <a:p>
            <a:pPr algn="ctr">
              <a:defRPr/>
            </a:pPr>
          </a:p>
        </p:txBody>
      </p:sp>
      <p:sp>
        <p:nvSpPr>
          <p:cNvPr id="47" name="AutoShape 11"/>
          <p:cNvSpPr/>
          <p:nvPr>
            <p:custDataLst>
              <p:tags r:id="rId13"/>
            </p:custDataLst>
          </p:nvPr>
        </p:nvSpPr>
        <p:spPr>
          <a:xfrm>
            <a:off x="944245" y="3855085"/>
            <a:ext cx="2368550" cy="469900"/>
          </a:xfrm>
          <a:prstGeom prst="roundRect">
            <a:avLst>
              <a:gd name="adj" fmla="val 0"/>
            </a:avLst>
          </a:prstGeom>
          <a:solidFill>
            <a:srgbClr val="F0FDF4">
              <a:alpha val="92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custDataLst>
              <p:tags r:id="rId14"/>
            </p:custDataLst>
          </p:nvPr>
        </p:nvSpPr>
        <p:spPr>
          <a:xfrm>
            <a:off x="1022985" y="3940175"/>
            <a:ext cx="469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平台支撑层 Platform Layer</a:t>
            </a:r>
            <a:endParaRPr lang="en-US" sz="1100"/>
          </a:p>
        </p:txBody>
      </p:sp>
      <p:sp>
        <p:nvSpPr>
          <p:cNvPr id="49" name="AutoShape 11"/>
          <p:cNvSpPr/>
          <p:nvPr>
            <p:custDataLst>
              <p:tags r:id="rId15"/>
            </p:custDataLst>
          </p:nvPr>
        </p:nvSpPr>
        <p:spPr>
          <a:xfrm>
            <a:off x="940435" y="4445000"/>
            <a:ext cx="1625600" cy="469900"/>
          </a:xfrm>
          <a:prstGeom prst="roundRect">
            <a:avLst>
              <a:gd name="adj" fmla="val 0"/>
            </a:avLst>
          </a:prstGeom>
          <a:solidFill>
            <a:srgbClr val="F0FDF4">
              <a:alpha val="92000"/>
            </a:srgbClr>
          </a:solidFill>
          <a:ln w="25400" cap="flat" cmpd="sng">
            <a:noFill/>
            <a:prstDash val="solid"/>
            <a:round/>
          </a:ln>
        </p:spPr>
        <p:txBody>
          <a:bodyPr vert="horz" wrap="square" lIns="0" tIns="0" rIns="0" bIns="0" rtlCol="0" anchor="ctr" anchorCtr="0"/>
          <a:lstStyle/>
          <a:p>
            <a:pPr algn="ctr">
              <a:defRPr/>
            </a:pPr>
          </a:p>
        </p:txBody>
      </p:sp>
      <p:sp>
        <p:nvSpPr>
          <p:cNvPr id="50" name="AutoShape 9"/>
          <p:cNvSpPr/>
          <p:nvPr>
            <p:custDataLst>
              <p:tags r:id="rId16"/>
            </p:custDataLst>
          </p:nvPr>
        </p:nvSpPr>
        <p:spPr>
          <a:xfrm flipH="1">
            <a:off x="767080" y="4457065"/>
            <a:ext cx="172720" cy="454660"/>
          </a:xfrm>
          <a:prstGeom prst="roundRect">
            <a:avLst>
              <a:gd name="adj" fmla="val 0"/>
            </a:avLst>
          </a:prstGeom>
          <a:solidFill>
            <a:srgbClr val="22C55E">
              <a:alpha val="85000"/>
            </a:srgbClr>
          </a:solidFill>
          <a:ln w="25400" cap="flat" cmpd="sng">
            <a:noFill/>
            <a:prstDash val="solid"/>
            <a:round/>
          </a:ln>
        </p:spPr>
        <p:txBody>
          <a:bodyPr vert="horz" wrap="square" lIns="0" tIns="0" rIns="0" bIns="0" rtlCol="0" anchor="ctr" anchorCtr="0"/>
          <a:lstStyle/>
          <a:p>
            <a:pPr algn="ctr">
              <a:defRPr/>
            </a:pPr>
          </a:p>
        </p:txBody>
      </p:sp>
      <p:sp>
        <p:nvSpPr>
          <p:cNvPr id="51" name="AutoShape 16"/>
          <p:cNvSpPr/>
          <p:nvPr>
            <p:custDataLst>
              <p:tags r:id="rId17"/>
            </p:custDataLst>
          </p:nvPr>
        </p:nvSpPr>
        <p:spPr>
          <a:xfrm>
            <a:off x="1022985" y="4506595"/>
            <a:ext cx="469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a:t>
            </a: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层 D</a:t>
            </a: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ata Layer</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117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a:t>
            </a:r>
            <a:r>
              <a:rPr lang="en-US" altLang="zh-CN"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设计顺序图（</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核心部分显示）</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6" name="图片 35"/>
          <p:cNvPicPr>
            <a:picLocks noChangeAspect="1"/>
          </p:cNvPicPr>
          <p:nvPr/>
        </p:nvPicPr>
        <p:blipFill>
          <a:blip r:embed="rId2"/>
          <a:stretch>
            <a:fillRect/>
          </a:stretch>
        </p:blipFill>
        <p:spPr>
          <a:xfrm>
            <a:off x="668020" y="1378585"/>
            <a:ext cx="4962525" cy="5374640"/>
          </a:xfrm>
          <a:prstGeom prst="rect">
            <a:avLst/>
          </a:prstGeom>
        </p:spPr>
      </p:pic>
      <p:pic>
        <p:nvPicPr>
          <p:cNvPr id="37" name="seq2_final.png" descr="seq2_final.png"/>
          <p:cNvPicPr>
            <a:picLocks noChangeAspect="1" noChangeArrowheads="1"/>
          </p:cNvPicPr>
          <p:nvPr/>
        </p:nvPicPr>
        <p:blipFill>
          <a:blip r:embed="rId3"/>
          <a:srcRect t="4327"/>
          <a:stretch>
            <a:fillRect/>
          </a:stretch>
        </p:blipFill>
        <p:spPr>
          <a:xfrm>
            <a:off x="5950585" y="1337945"/>
            <a:ext cx="4932045" cy="54152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 —— 部署图</a:t>
            </a:r>
            <a:endParaRPr lang="en-US" sz="1100"/>
          </a:p>
        </p:txBody>
      </p:sp>
      <p:pic>
        <p:nvPicPr>
          <p:cNvPr id="40" name="图片 22" descr="图5-5 部署图 黑白版"/>
          <p:cNvPicPr>
            <a:picLocks noChangeAspect="1"/>
          </p:cNvPicPr>
          <p:nvPr/>
        </p:nvPicPr>
        <p:blipFill>
          <a:blip r:embed="rId2"/>
          <a:stretch>
            <a:fillRect/>
          </a:stretch>
        </p:blipFill>
        <p:spPr>
          <a:xfrm>
            <a:off x="162560" y="1449070"/>
            <a:ext cx="7566660" cy="5076190"/>
          </a:xfrm>
          <a:prstGeom prst="rect">
            <a:avLst/>
          </a:prstGeom>
        </p:spPr>
      </p:pic>
      <p:sp>
        <p:nvSpPr>
          <p:cNvPr id="41" name="文本框 40"/>
          <p:cNvSpPr txBox="1"/>
          <p:nvPr/>
        </p:nvSpPr>
        <p:spPr>
          <a:xfrm>
            <a:off x="7619365" y="1515745"/>
            <a:ext cx="4308475" cy="4706620"/>
          </a:xfrm>
          <a:prstGeom prst="rect">
            <a:avLst/>
          </a:prstGeom>
          <a:noFill/>
        </p:spPr>
        <p:txBody>
          <a:bodyPr wrap="square" rtlCol="0">
            <a:noAutofit/>
          </a:bodyPr>
          <a:p>
            <a:r>
              <a:rPr lang="zh-CN" altLang="en-US" sz="2000" b="1">
                <a:latin typeface="+mn-ea"/>
                <a:ea typeface="+mn-ea"/>
                <a:cs typeface="+mn-ea"/>
              </a:rPr>
              <a:t>系统采用四层部署架构，从客户端到</a:t>
            </a:r>
            <a:r>
              <a:rPr lang="en-US" altLang="zh-CN" sz="2000" b="1">
                <a:latin typeface="+mn-ea"/>
                <a:ea typeface="+mn-ea"/>
                <a:cs typeface="+mn-ea"/>
              </a:rPr>
              <a:t>AI</a:t>
            </a:r>
            <a:r>
              <a:rPr lang="zh-CN" altLang="en-US" sz="2000" b="1">
                <a:latin typeface="+mn-ea"/>
                <a:ea typeface="+mn-ea"/>
                <a:cs typeface="+mn-ea"/>
              </a:rPr>
              <a:t>服务层依次为：</a:t>
            </a:r>
            <a:endParaRPr lang="zh-CN" altLang="en-US" sz="2000" b="1">
              <a:latin typeface="+mn-ea"/>
              <a:ea typeface="+mn-ea"/>
              <a:cs typeface="+mn-ea"/>
            </a:endParaRPr>
          </a:p>
          <a:p>
            <a:endParaRPr lang="zh-CN" altLang="en-US"/>
          </a:p>
          <a:p>
            <a:r>
              <a:rPr lang="zh-CN" altLang="en-US" sz="1600" b="1">
                <a:latin typeface="+mn-ea"/>
                <a:ea typeface="+mn-ea"/>
                <a:cs typeface="+mn-ea"/>
              </a:rPr>
              <a:t>客户端层：</a:t>
            </a:r>
            <a:r>
              <a:rPr lang="zh-CN" altLang="en-US" sz="1600">
                <a:latin typeface="+mn-ea"/>
                <a:ea typeface="+mn-ea"/>
                <a:cs typeface="+mn-ea"/>
              </a:rPr>
              <a:t>用户通过浏览器加载</a:t>
            </a:r>
            <a:r>
              <a:rPr lang="en-US" altLang="zh-CN" sz="1600">
                <a:latin typeface="+mn-ea"/>
                <a:ea typeface="+mn-ea"/>
                <a:cs typeface="+mn-ea"/>
              </a:rPr>
              <a:t>Vue.js</a:t>
            </a:r>
            <a:r>
              <a:rPr lang="zh-CN" altLang="en-US" sz="1600">
                <a:latin typeface="+mn-ea"/>
                <a:ea typeface="+mn-ea"/>
                <a:cs typeface="+mn-ea"/>
              </a:rPr>
              <a:t>单页面应用，经</a:t>
            </a:r>
            <a:r>
              <a:rPr lang="en-US" altLang="zh-CN" sz="1600">
                <a:latin typeface="+mn-ea"/>
                <a:ea typeface="+mn-ea"/>
                <a:cs typeface="+mn-ea"/>
              </a:rPr>
              <a:t>HTTPS</a:t>
            </a:r>
            <a:r>
              <a:rPr lang="zh-CN" altLang="en-US" sz="1600">
                <a:latin typeface="+mn-ea"/>
                <a:ea typeface="+mn-ea"/>
                <a:cs typeface="+mn-ea"/>
              </a:rPr>
              <a:t>协议访问后端服务。</a:t>
            </a:r>
            <a:endParaRPr lang="zh-CN" altLang="en-US" sz="1600">
              <a:latin typeface="+mn-ea"/>
              <a:ea typeface="+mn-ea"/>
              <a:cs typeface="+mn-ea"/>
            </a:endParaRPr>
          </a:p>
          <a:p>
            <a:endParaRPr lang="zh-CN" altLang="en-US" sz="1600">
              <a:latin typeface="+mn-ea"/>
              <a:ea typeface="+mn-ea"/>
              <a:cs typeface="+mn-ea"/>
            </a:endParaRPr>
          </a:p>
          <a:p>
            <a:r>
              <a:rPr lang="zh-CN" altLang="en-US" sz="1600" b="1">
                <a:latin typeface="+mn-ea"/>
                <a:ea typeface="+mn-ea"/>
                <a:cs typeface="+mn-ea"/>
              </a:rPr>
              <a:t>网关层：</a:t>
            </a:r>
            <a:r>
              <a:rPr lang="en-US" altLang="zh-CN" sz="1600">
                <a:latin typeface="+mn-ea"/>
                <a:ea typeface="+mn-ea"/>
                <a:cs typeface="+mn-ea"/>
              </a:rPr>
              <a:t>Nginx</a:t>
            </a:r>
            <a:r>
              <a:rPr lang="zh-CN" altLang="en-US" sz="1600">
                <a:latin typeface="+mn-ea"/>
                <a:ea typeface="+mn-ea"/>
                <a:cs typeface="+mn-ea"/>
              </a:rPr>
              <a:t>反向代理服务器负责</a:t>
            </a:r>
            <a:r>
              <a:rPr lang="en-US" altLang="zh-CN" sz="1600">
                <a:latin typeface="+mn-ea"/>
                <a:ea typeface="+mn-ea"/>
                <a:cs typeface="+mn-ea"/>
              </a:rPr>
              <a:t>SSL</a:t>
            </a:r>
            <a:r>
              <a:rPr lang="zh-CN" altLang="en-US" sz="1600">
                <a:latin typeface="+mn-ea"/>
                <a:ea typeface="+mn-ea"/>
                <a:cs typeface="+mn-ea"/>
              </a:rPr>
              <a:t>终止、请求路由与负载均衡，将请求转发至应用层。</a:t>
            </a:r>
            <a:endParaRPr lang="zh-CN" altLang="en-US" sz="1600">
              <a:latin typeface="+mn-ea"/>
              <a:ea typeface="+mn-ea"/>
              <a:cs typeface="+mn-ea"/>
            </a:endParaRPr>
          </a:p>
          <a:p>
            <a:endParaRPr lang="zh-CN" altLang="en-US" sz="1600">
              <a:latin typeface="+mn-ea"/>
              <a:ea typeface="+mn-ea"/>
              <a:cs typeface="+mn-ea"/>
            </a:endParaRPr>
          </a:p>
          <a:p>
            <a:r>
              <a:rPr lang="zh-CN" altLang="en-US" sz="1600" b="1">
                <a:latin typeface="+mn-ea"/>
                <a:ea typeface="+mn-ea"/>
                <a:cs typeface="+mn-ea"/>
              </a:rPr>
              <a:t>应用层：</a:t>
            </a:r>
            <a:r>
              <a:rPr lang="en-US" altLang="zh-CN" sz="1600">
                <a:latin typeface="+mn-ea"/>
                <a:ea typeface="+mn-ea"/>
                <a:cs typeface="+mn-ea"/>
              </a:rPr>
              <a:t>Django REST API</a:t>
            </a:r>
            <a:r>
              <a:rPr lang="zh-CN" altLang="en-US" sz="1600">
                <a:latin typeface="+mn-ea"/>
                <a:ea typeface="+mn-ea"/>
                <a:cs typeface="+mn-ea"/>
              </a:rPr>
              <a:t>处理业务逻辑，</a:t>
            </a:r>
            <a:r>
              <a:rPr lang="en-US" altLang="zh-CN" sz="1600">
                <a:latin typeface="+mn-ea"/>
                <a:ea typeface="+mn-ea"/>
                <a:cs typeface="+mn-ea"/>
              </a:rPr>
              <a:t>Celery Worker</a:t>
            </a:r>
            <a:r>
              <a:rPr lang="zh-CN" altLang="en-US" sz="1600">
                <a:latin typeface="+mn-ea"/>
                <a:ea typeface="+mn-ea"/>
                <a:cs typeface="+mn-ea"/>
              </a:rPr>
              <a:t>负责异步任务的执行。</a:t>
            </a:r>
            <a:endParaRPr lang="zh-CN" altLang="en-US" sz="1600">
              <a:latin typeface="+mn-ea"/>
              <a:ea typeface="+mn-ea"/>
              <a:cs typeface="+mn-ea"/>
            </a:endParaRPr>
          </a:p>
          <a:p>
            <a:endParaRPr lang="en-US" altLang="zh-CN" sz="1600">
              <a:latin typeface="+mn-ea"/>
              <a:ea typeface="+mn-ea"/>
              <a:cs typeface="+mn-ea"/>
            </a:endParaRPr>
          </a:p>
          <a:p>
            <a:r>
              <a:rPr lang="en-US" altLang="zh-CN" sz="1600" b="1">
                <a:latin typeface="+mn-ea"/>
                <a:ea typeface="+mn-ea"/>
                <a:cs typeface="+mn-ea"/>
              </a:rPr>
              <a:t>AI</a:t>
            </a:r>
            <a:r>
              <a:rPr lang="zh-CN" altLang="en-US" sz="1600" b="1">
                <a:latin typeface="+mn-ea"/>
                <a:ea typeface="+mn-ea"/>
                <a:cs typeface="+mn-ea"/>
              </a:rPr>
              <a:t>服务层：</a:t>
            </a:r>
            <a:r>
              <a:rPr lang="zh-CN" altLang="en-US" sz="1600">
                <a:latin typeface="+mn-ea"/>
                <a:ea typeface="+mn-ea"/>
                <a:cs typeface="+mn-ea"/>
              </a:rPr>
              <a:t>通过</a:t>
            </a:r>
            <a:r>
              <a:rPr lang="en-US" altLang="zh-CN" sz="1600">
                <a:latin typeface="+mn-ea"/>
                <a:ea typeface="+mn-ea"/>
                <a:cs typeface="+mn-ea"/>
              </a:rPr>
              <a:t>REST API</a:t>
            </a:r>
            <a:r>
              <a:rPr lang="zh-CN" altLang="en-US" sz="1600">
                <a:latin typeface="+mn-ea"/>
                <a:ea typeface="+mn-ea"/>
                <a:cs typeface="+mn-ea"/>
              </a:rPr>
              <a:t>调用外部大模型</a:t>
            </a:r>
            <a:r>
              <a:rPr lang="en-US" altLang="zh-CN" sz="1600">
                <a:latin typeface="+mn-ea"/>
                <a:ea typeface="+mn-ea"/>
                <a:cs typeface="+mn-ea"/>
              </a:rPr>
              <a:t>API</a:t>
            </a:r>
            <a:r>
              <a:rPr lang="zh-CN" altLang="en-US" sz="1600">
                <a:latin typeface="+mn-ea"/>
                <a:ea typeface="+mn-ea"/>
                <a:cs typeface="+mn-ea"/>
              </a:rPr>
              <a:t>以及</a:t>
            </a:r>
            <a:r>
              <a:rPr lang="en-US" altLang="zh-CN" sz="1600">
                <a:latin typeface="+mn-ea"/>
                <a:ea typeface="+mn-ea"/>
                <a:cs typeface="+mn-ea"/>
              </a:rPr>
              <a:t>OCR/ASR</a:t>
            </a:r>
            <a:r>
              <a:rPr lang="zh-CN" altLang="en-US" sz="1600">
                <a:latin typeface="+mn-ea"/>
                <a:ea typeface="+mn-ea"/>
                <a:cs typeface="+mn-ea"/>
              </a:rPr>
              <a:t>服务。</a:t>
            </a:r>
            <a:endParaRPr lang="zh-CN" altLang="en-US" sz="1600">
              <a:latin typeface="+mn-ea"/>
              <a:ea typeface="+mn-ea"/>
              <a:cs typeface="+mn-ea"/>
            </a:endParaRPr>
          </a:p>
          <a:p>
            <a:endParaRPr lang="zh-CN" altLang="en-US" sz="1600">
              <a:latin typeface="+mn-ea"/>
              <a:ea typeface="+mn-ea"/>
              <a:cs typeface="+mn-ea"/>
            </a:endParaRPr>
          </a:p>
          <a:p>
            <a:r>
              <a:rPr lang="zh-CN" altLang="en-US" sz="1600" b="1">
                <a:latin typeface="+mn-ea"/>
                <a:ea typeface="+mn-ea"/>
                <a:cs typeface="+mn-ea"/>
              </a:rPr>
              <a:t>数据存储层部署四类存储服务：</a:t>
            </a:r>
            <a:r>
              <a:rPr lang="en-US" altLang="zh-CN" sz="1600">
                <a:latin typeface="+mn-ea"/>
                <a:ea typeface="+mn-ea"/>
                <a:cs typeface="+mn-ea"/>
              </a:rPr>
              <a:t>MySQL 8.0：</a:t>
            </a:r>
            <a:r>
              <a:rPr lang="zh-CN" altLang="en-US" sz="1600">
                <a:latin typeface="+mn-ea"/>
                <a:ea typeface="+mn-ea"/>
                <a:cs typeface="+mn-ea"/>
              </a:rPr>
              <a:t>主从复制，存储关系型数据、</a:t>
            </a:r>
            <a:r>
              <a:rPr lang="en-US" altLang="zh-CN" sz="1600">
                <a:latin typeface="+mn-ea"/>
                <a:ea typeface="+mn-ea"/>
                <a:cs typeface="+mn-ea"/>
              </a:rPr>
              <a:t>Redis 7.0：Session</a:t>
            </a:r>
            <a:r>
              <a:rPr lang="zh-CN" altLang="en-US" sz="1600">
                <a:latin typeface="+mn-ea"/>
                <a:ea typeface="+mn-ea"/>
                <a:cs typeface="+mn-ea"/>
              </a:rPr>
              <a:t>管理与热点数据缓存、</a:t>
            </a:r>
            <a:r>
              <a:rPr lang="en-US" altLang="zh-CN" sz="1600">
                <a:latin typeface="+mn-ea"/>
                <a:ea typeface="+mn-ea"/>
                <a:cs typeface="+mn-ea"/>
              </a:rPr>
              <a:t>MinIO/</a:t>
            </a:r>
            <a:r>
              <a:rPr lang="zh-CN" altLang="en-US" sz="1600">
                <a:latin typeface="+mn-ea"/>
                <a:ea typeface="+mn-ea"/>
                <a:cs typeface="+mn-ea"/>
              </a:rPr>
              <a:t>阿里云</a:t>
            </a:r>
            <a:r>
              <a:rPr lang="en-US" altLang="zh-CN" sz="1600">
                <a:latin typeface="+mn-ea"/>
                <a:ea typeface="+mn-ea"/>
                <a:cs typeface="+mn-ea"/>
              </a:rPr>
              <a:t>OSS：</a:t>
            </a:r>
            <a:r>
              <a:rPr lang="zh-CN" altLang="en-US" sz="1600">
                <a:latin typeface="+mn-ea"/>
                <a:ea typeface="+mn-ea"/>
                <a:cs typeface="+mn-ea"/>
              </a:rPr>
              <a:t>对象存储，保存简历文件与报告</a:t>
            </a:r>
            <a:r>
              <a:rPr lang="en-US" altLang="zh-CN" sz="1600">
                <a:latin typeface="+mn-ea"/>
                <a:ea typeface="+mn-ea"/>
                <a:cs typeface="+mn-ea"/>
              </a:rPr>
              <a:t>PDF、Scrapy</a:t>
            </a:r>
            <a:r>
              <a:rPr lang="zh-CN" altLang="en-US" sz="1600">
                <a:latin typeface="+mn-ea"/>
                <a:ea typeface="+mn-ea"/>
                <a:cs typeface="+mn-ea"/>
              </a:rPr>
              <a:t>爬虫集群：定时采集招聘平台数据，通过</a:t>
            </a:r>
            <a:r>
              <a:rPr lang="en-US" altLang="zh-CN" sz="1600">
                <a:latin typeface="+mn-ea"/>
                <a:ea typeface="+mn-ea"/>
                <a:cs typeface="+mn-ea"/>
              </a:rPr>
              <a:t>HTTP</a:t>
            </a:r>
            <a:r>
              <a:rPr lang="zh-CN" altLang="en-US" sz="1600">
                <a:latin typeface="+mn-ea"/>
                <a:ea typeface="+mn-ea"/>
                <a:cs typeface="+mn-ea"/>
              </a:rPr>
              <a:t>调度接口与</a:t>
            </a:r>
            <a:r>
              <a:rPr lang="en-US" altLang="zh-CN" sz="1600">
                <a:latin typeface="+mn-ea"/>
                <a:ea typeface="+mn-ea"/>
                <a:cs typeface="+mn-ea"/>
              </a:rPr>
              <a:t>Celery</a:t>
            </a:r>
            <a:r>
              <a:rPr lang="zh-CN" altLang="en-US" sz="1600">
                <a:latin typeface="+mn-ea"/>
                <a:ea typeface="+mn-ea"/>
                <a:cs typeface="+mn-ea"/>
              </a:rPr>
              <a:t>集成。</a:t>
            </a:r>
            <a:endParaRPr lang="zh-CN" altLang="en-US" sz="1600">
              <a:latin typeface="+mn-ea"/>
              <a:ea typeface="+mn-ea"/>
              <a:cs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 —— 原型界面</a:t>
            </a:r>
            <a:endParaRPr lang="en-US" sz="1100"/>
          </a:p>
        </p:txBody>
      </p:sp>
      <p:cxnSp>
        <p:nvCxnSpPr>
          <p:cNvPr id="17" name="Connector 17"/>
          <p:cNvCxnSpPr/>
          <p:nvPr/>
        </p:nvCxnSpPr>
        <p:spPr>
          <a:xfrm rot="5390708">
            <a:off x="3937000" y="3867159"/>
            <a:ext cx="4699000" cy="12700"/>
          </a:xfrm>
          <a:prstGeom prst="straightConnector1">
            <a:avLst/>
          </a:prstGeom>
          <a:solidFill>
            <a:srgbClr val="DEE0E3">
              <a:alpha val="100000"/>
            </a:srgbClr>
          </a:solidFill>
          <a:ln w="12700" cap="flat" cmpd="sng">
            <a:solidFill>
              <a:srgbClr val="22C55E">
                <a:alpha val="30000"/>
              </a:srgbClr>
            </a:solidFill>
            <a:prstDash val="dash"/>
            <a:round/>
            <a:headEnd type="none" w="med" len="med"/>
            <a:tailEnd type="none" w="med" len="med"/>
          </a:ln>
        </p:spPr>
      </p:cxnSp>
      <p:sp>
        <p:nvSpPr>
          <p:cNvPr id="18" name="AutoShape 18"/>
          <p:cNvSpPr/>
          <p:nvPr>
            <p:custDataLst>
              <p:tags r:id="rId2"/>
            </p:custDataLst>
          </p:nvPr>
        </p:nvSpPr>
        <p:spPr>
          <a:xfrm>
            <a:off x="6477000" y="1524000"/>
            <a:ext cx="1714500" cy="1713865"/>
          </a:xfrm>
          <a:prstGeom prst="roundRect">
            <a:avLst>
              <a:gd name="adj" fmla="val 0"/>
            </a:avLst>
          </a:prstGeom>
          <a:solidFill>
            <a:srgbClr val="F0FDF4">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3"/>
            </p:custDataLst>
          </p:nvPr>
        </p:nvSpPr>
        <p:spPr>
          <a:xfrm>
            <a:off x="6477000" y="1524000"/>
            <a:ext cx="17145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4"/>
            </p:custDataLst>
          </p:nvPr>
        </p:nvSpPr>
        <p:spPr>
          <a:xfrm>
            <a:off x="6578600" y="171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统一登录门户</a:t>
            </a:r>
            <a:endParaRPr lang="en-US" sz="1100"/>
          </a:p>
        </p:txBody>
      </p:sp>
      <p:sp>
        <p:nvSpPr>
          <p:cNvPr id="21" name="AutoShape 21"/>
          <p:cNvSpPr/>
          <p:nvPr>
            <p:custDataLst>
              <p:tags r:id="rId5"/>
            </p:custDataLst>
          </p:nvPr>
        </p:nvSpPr>
        <p:spPr>
          <a:xfrm>
            <a:off x="6578600" y="215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集成账号密码、短信验证码及第三方快捷登录方式，作为全平台唯一可信的身份认证入口。</a:t>
            </a:r>
            <a:endParaRPr lang="en-US" sz="1100"/>
          </a:p>
        </p:txBody>
      </p:sp>
      <p:sp>
        <p:nvSpPr>
          <p:cNvPr id="24" name="AutoShape 24"/>
          <p:cNvSpPr/>
          <p:nvPr>
            <p:custDataLst>
              <p:tags r:id="rId6"/>
            </p:custDataLst>
          </p:nvPr>
        </p:nvSpPr>
        <p:spPr>
          <a:xfrm>
            <a:off x="8280400" y="1524000"/>
            <a:ext cx="1714500" cy="1714500"/>
          </a:xfrm>
          <a:prstGeom prst="roundRect">
            <a:avLst>
              <a:gd name="adj" fmla="val 0"/>
            </a:avLst>
          </a:prstGeom>
          <a:solidFill>
            <a:srgbClr val="FFFBEB">
              <a:alpha val="92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custDataLst>
              <p:tags r:id="rId7"/>
            </p:custDataLst>
          </p:nvPr>
        </p:nvSpPr>
        <p:spPr>
          <a:xfrm>
            <a:off x="8280400" y="1524000"/>
            <a:ext cx="1714500" cy="50800"/>
          </a:xfrm>
          <a:prstGeom prst="roundRect">
            <a:avLst>
              <a:gd name="adj" fmla="val 0"/>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custDataLst>
              <p:tags r:id="rId8"/>
            </p:custDataLst>
          </p:nvPr>
        </p:nvSpPr>
        <p:spPr>
          <a:xfrm>
            <a:off x="8382000" y="171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B45309"/>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用户工作台</a:t>
            </a:r>
            <a:endParaRPr lang="en-US" sz="1100"/>
          </a:p>
        </p:txBody>
      </p:sp>
      <p:sp>
        <p:nvSpPr>
          <p:cNvPr id="27" name="AutoShape 27"/>
          <p:cNvSpPr/>
          <p:nvPr>
            <p:custDataLst>
              <p:tags r:id="rId9"/>
            </p:custDataLst>
          </p:nvPr>
        </p:nvSpPr>
        <p:spPr>
          <a:xfrm>
            <a:off x="8382000" y="215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聚合个人画像、成长规划、职位投递、简历管理与面试进度追踪，打造一站式求职与发展中心。</a:t>
            </a:r>
            <a:endParaRPr lang="en-US" sz="1100"/>
          </a:p>
        </p:txBody>
      </p:sp>
      <p:sp>
        <p:nvSpPr>
          <p:cNvPr id="30" name="AutoShape 30"/>
          <p:cNvSpPr/>
          <p:nvPr>
            <p:custDataLst>
              <p:tags r:id="rId10"/>
            </p:custDataLst>
          </p:nvPr>
        </p:nvSpPr>
        <p:spPr>
          <a:xfrm>
            <a:off x="10083800" y="1524000"/>
            <a:ext cx="1714500" cy="1715135"/>
          </a:xfrm>
          <a:prstGeom prst="roundRect">
            <a:avLst>
              <a:gd name="adj" fmla="val 0"/>
            </a:avLst>
          </a:prstGeom>
          <a:solidFill>
            <a:srgbClr val="EFF6FF">
              <a:alpha val="92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custDataLst>
              <p:tags r:id="rId11"/>
            </p:custDataLst>
          </p:nvPr>
        </p:nvSpPr>
        <p:spPr>
          <a:xfrm>
            <a:off x="10083800" y="1524000"/>
            <a:ext cx="1714500" cy="508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custDataLst>
              <p:tags r:id="rId12"/>
            </p:custDataLst>
          </p:nvPr>
        </p:nvSpPr>
        <p:spPr>
          <a:xfrm>
            <a:off x="10185400" y="1714500"/>
            <a:ext cx="152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D4ED8"/>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运营管理台</a:t>
            </a:r>
            <a:endParaRPr lang="en-US" sz="1100"/>
          </a:p>
        </p:txBody>
      </p:sp>
      <p:sp>
        <p:nvSpPr>
          <p:cNvPr id="33" name="AutoShape 33"/>
          <p:cNvSpPr/>
          <p:nvPr>
            <p:custDataLst>
              <p:tags r:id="rId13"/>
            </p:custDataLst>
          </p:nvPr>
        </p:nvSpPr>
        <p:spPr>
          <a:xfrm>
            <a:off x="10185400" y="2159000"/>
            <a:ext cx="15494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提供角色权限配置、业务数据可视化看板、内容审核与系统参数的统一管理能力。</a:t>
            </a:r>
            <a:endParaRPr lang="en-US" sz="1100"/>
          </a:p>
        </p:txBody>
      </p:sp>
      <p:pic>
        <p:nvPicPr>
          <p:cNvPr id="40" name="图片 2"/>
          <p:cNvPicPr>
            <a:picLocks noChangeAspect="1"/>
          </p:cNvPicPr>
          <p:nvPr/>
        </p:nvPicPr>
        <p:blipFill>
          <a:blip r:embed="rId14"/>
          <a:stretch>
            <a:fillRect/>
          </a:stretch>
        </p:blipFill>
        <p:spPr>
          <a:xfrm>
            <a:off x="887095" y="1524000"/>
            <a:ext cx="5266690" cy="2528570"/>
          </a:xfrm>
          <a:prstGeom prst="rect">
            <a:avLst/>
          </a:prstGeom>
          <a:noFill/>
          <a:ln>
            <a:noFill/>
          </a:ln>
        </p:spPr>
      </p:pic>
      <p:pic>
        <p:nvPicPr>
          <p:cNvPr id="41" name="图片 4"/>
          <p:cNvPicPr>
            <a:picLocks noChangeAspect="1"/>
          </p:cNvPicPr>
          <p:nvPr/>
        </p:nvPicPr>
        <p:blipFill>
          <a:blip r:embed="rId15"/>
          <a:stretch>
            <a:fillRect/>
          </a:stretch>
        </p:blipFill>
        <p:spPr>
          <a:xfrm>
            <a:off x="887095" y="4192270"/>
            <a:ext cx="5266690" cy="2528570"/>
          </a:xfrm>
          <a:prstGeom prst="rect">
            <a:avLst/>
          </a:prstGeom>
          <a:noFill/>
          <a:ln>
            <a:noFill/>
          </a:ln>
        </p:spPr>
      </p:pic>
      <p:pic>
        <p:nvPicPr>
          <p:cNvPr id="42" name="图片 5"/>
          <p:cNvPicPr>
            <a:picLocks noChangeAspect="1"/>
          </p:cNvPicPr>
          <p:nvPr/>
        </p:nvPicPr>
        <p:blipFill>
          <a:blip r:embed="rId16"/>
          <a:stretch>
            <a:fillRect/>
          </a:stretch>
        </p:blipFill>
        <p:spPr>
          <a:xfrm>
            <a:off x="6531610" y="3810000"/>
            <a:ext cx="5266690" cy="252857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三次迭代UML图类型覆盖总结</a:t>
            </a:r>
            <a:endParaRPr lang="en-US" sz="1100"/>
          </a:p>
        </p:txBody>
      </p:sp>
      <p:graphicFrame>
        <p:nvGraphicFramePr>
          <p:cNvPr id="4" name="Table 4"/>
          <p:cNvGraphicFramePr>
            <a:graphicFrameLocks noGrp="1"/>
          </p:cNvGraphicFramePr>
          <p:nvPr/>
        </p:nvGraphicFramePr>
        <p:xfrm>
          <a:off x="762000" y="1524000"/>
          <a:ext cx="10668000" cy="4635500"/>
        </p:xfrm>
        <a:graphic>
          <a:graphicData uri="http://schemas.openxmlformats.org/drawingml/2006/table">
            <a:tbl>
              <a:tblPr>
                <a:effectLst/>
              </a:tblPr>
              <a:tblGrid>
                <a:gridCol w="4064000"/>
                <a:gridCol w="3556000"/>
                <a:gridCol w="3048000"/>
              </a:tblGrid>
              <a:tr h="571500">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UML图类型</a:t>
                      </a:r>
                      <a:endParaRPr lang="en-US" sz="1100"/>
                    </a:p>
                  </a:txBody>
                  <a:tcPr marL="101600" marR="101600" marT="101600" marB="101600" anchor="t" anchorCtr="0">
                    <a:lnL>
                      <a:noFill/>
                    </a:lnL>
                    <a:lnR>
                      <a:noFill/>
                    </a:lnR>
                    <a:lnT>
                      <a:noFill/>
                    </a:lnT>
                    <a:lnB>
                      <a:noFill/>
                    </a:lnB>
                    <a:solidFill>
                      <a:srgbClr val="22C55E">
                        <a:alpha val="95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图例引用范围</a:t>
                      </a:r>
                      <a:endParaRPr lang="en-US" sz="1100"/>
                    </a:p>
                  </a:txBody>
                  <a:tcPr marL="101600" marR="101600" marT="101600" marB="101600" anchor="t" anchorCtr="0">
                    <a:lnL>
                      <a:noFill/>
                    </a:lnL>
                    <a:lnR>
                      <a:noFill/>
                    </a:lnR>
                    <a:lnT>
                      <a:noFill/>
                    </a:lnT>
                    <a:lnB>
                      <a:noFill/>
                    </a:lnB>
                    <a:solidFill>
                      <a:srgbClr val="22C55E">
                        <a:alpha val="95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所属迭代阶段</a:t>
                      </a:r>
                      <a:endParaRPr lang="en-US" sz="1100"/>
                    </a:p>
                  </a:txBody>
                  <a:tcPr marL="101600" marR="101600" marT="101600" marB="101600" anchor="t" anchorCtr="0">
                    <a:lnL>
                      <a:noFill/>
                    </a:lnL>
                    <a:lnR>
                      <a:noFill/>
                    </a:lnR>
                    <a:lnT>
                      <a:noFill/>
                    </a:lnT>
                    <a:lnB>
                      <a:noFill/>
                    </a:lnB>
                    <a:solidFill>
                      <a:srgbClr val="22C55E">
                        <a:alpha val="95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用例图</a:t>
                      </a:r>
                      <a:endParaRPr lang="en-US" sz="1100"/>
                    </a:p>
                  </a:txBody>
                  <a:tcPr marL="101600" marR="101600" marT="101600" marB="101600" anchor="t" anchorCtr="0">
                    <a:lnL>
                      <a:noFill/>
                    </a:lnL>
                    <a:lnR>
                      <a:noFill/>
                    </a:lnR>
                    <a:lnT>
                      <a:noFill/>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图2-1 ~ 图2-4</a:t>
                      </a:r>
                      <a:endParaRPr lang="en-US" sz="1100"/>
                    </a:p>
                  </a:txBody>
                  <a:tcPr marL="101600" marR="101600" marT="101600" marB="101600" anchor="t" anchorCtr="0">
                    <a:lnL>
                      <a:noFill/>
                    </a:lnL>
                    <a:lnR>
                      <a:noFill/>
                    </a:lnR>
                    <a:lnT>
                      <a:noFill/>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第一次迭代</a:t>
                      </a:r>
                      <a:endParaRPr lang="en-US" sz="1100"/>
                    </a:p>
                  </a:txBody>
                  <a:tcPr marL="101600" marR="101600" marT="101600" marB="101600" anchor="t" anchorCtr="0">
                    <a:lnL>
                      <a:noFill/>
                    </a:lnL>
                    <a:lnR>
                      <a:noFill/>
                    </a:lnR>
                    <a:lnT>
                      <a:noFill/>
                    </a:lnT>
                    <a:lnB w="12700" cap="flat" cmpd="sng" algn="ctr">
                      <a:solidFill>
                        <a:srgbClr val="22C55E"/>
                      </a:solidFill>
                      <a:prstDash val="solid"/>
                      <a:round/>
                      <a:headEnd type="none" w="med" len="med"/>
                      <a:tailEnd type="none" w="med" len="med"/>
                    </a:lnB>
                    <a:solidFill>
                      <a:srgbClr val="FFFFFF">
                        <a:alpha val="88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类图（领域模型）</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图3-1 ~ 图3-2</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第一次迭代</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r>
              <a:tr h="406400">
                <a:tc>
                  <a:txBody>
                    <a:bodyPr rtlCol="0"/>
                    <a:lstStyle/>
                    <a:p>
                      <a:pPr marL="0" indent="0" algn="ctr">
                        <a:lnSpc>
                          <a:spcPct val="100000"/>
                        </a:lnSpc>
                        <a:defRPr/>
                      </a:pPr>
                      <a:r>
                        <a:rPr lang="zh-CN" altLang="en-US" sz="130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包</a:t>
                      </a:r>
                      <a:r>
                        <a:rPr lang="en-US" sz="130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图</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图4-2</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rPr>
                        <a:t>次迭代</a:t>
                      </a:r>
                      <a:endParaRPr 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逻辑架构图</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图4-1</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rPr>
                        <a:t>第</a:t>
                      </a:r>
                      <a:r>
                        <a:rPr lang="zh-CN" alt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rPr>
                        <a:t>次迭代</a:t>
                      </a:r>
                      <a:endParaRPr lang="en-US" sz="1300" b="1" i="0" u="none" strike="noStrike">
                        <a:solidFill>
                          <a:srgbClr val="FFC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r>
              <a:tr h="406400">
                <a:tc>
                  <a:txBody>
                    <a:bodyPr rtlCol="0"/>
                    <a:lstStyle/>
                    <a:p>
                      <a:pPr marL="0" algn="ctr">
                        <a:lnSpc>
                          <a:spcPct val="100000"/>
                        </a:lnSpc>
                        <a:buSzTx/>
                        <a:defRPr/>
                      </a:pPr>
                      <a:r>
                        <a:rPr lang="en-US" sz="130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系统顺序图</a:t>
                      </a:r>
                      <a:endParaRPr lang="en-US" sz="1300">
                        <a:solidFill>
                          <a:srgbClr val="1F2937"/>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图3-3 ~ 图3-4</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类图（设计类图）</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图4-3</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设计顺序图</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图5-1 ~ 图5-2</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活动图</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图5-3</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c>
                  <a:txBody>
                    <a:bodyPr rtlCol="0"/>
                    <a:lstStyle/>
                    <a:p>
                      <a:pPr marL="0" indent="0" algn="ctr">
                        <a:lnSpc>
                          <a:spcPct val="100000"/>
                        </a:lnSpc>
                        <a:defRPr/>
                      </a:pP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0FDF4">
                        <a:alpha val="92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状态机图</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图5-4</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c>
                  <a:txBody>
                    <a:bodyPr rtlCol="0"/>
                    <a:lstStyle/>
                    <a:p>
                      <a:pPr marL="0" indent="0" algn="ctr">
                        <a:lnSpc>
                          <a:spcPct val="100000"/>
                        </a:lnSpc>
                        <a:defRPr/>
                      </a:pP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w="12700" cap="flat" cmpd="sng" algn="ctr">
                      <a:solidFill>
                        <a:srgbClr val="22C55E"/>
                      </a:solidFill>
                      <a:prstDash val="solid"/>
                      <a:round/>
                      <a:headEnd type="none" w="med" len="med"/>
                      <a:tailEnd type="none" w="med" len="med"/>
                    </a:lnB>
                    <a:solidFill>
                      <a:srgbClr val="FFFFFF">
                        <a:alpha val="88000"/>
                      </a:srgbClr>
                    </a:solidFill>
                  </a:tcPr>
                </a:tc>
              </a:tr>
              <a:tr h="406400">
                <a:tc>
                  <a:txBody>
                    <a:bodyPr rtlCol="0"/>
                    <a:lstStyle/>
                    <a:p>
                      <a:pPr marL="0" indent="0" algn="ctr">
                        <a:lnSpc>
                          <a:spcPct val="100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部署图</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a:noFill/>
                    </a:lnB>
                    <a:solidFill>
                      <a:srgbClr val="F0FDF4">
                        <a:alpha val="92000"/>
                      </a:srgbClr>
                    </a:solidFill>
                  </a:tcPr>
                </a:tc>
                <a:tc>
                  <a:txBody>
                    <a:bodyPr rtlCol="0"/>
                    <a:lstStyle/>
                    <a:p>
                      <a:pPr marL="0" indent="0" algn="ctr">
                        <a:lnSpc>
                          <a:spcPct val="10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图6-1</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a:noFill/>
                    </a:lnB>
                    <a:solidFill>
                      <a:srgbClr val="F0FDF4">
                        <a:alpha val="92000"/>
                      </a:srgbClr>
                    </a:solidFill>
                  </a:tcPr>
                </a:tc>
                <a:tc>
                  <a:txBody>
                    <a:bodyPr rtlCol="0"/>
                    <a:lstStyle/>
                    <a:p>
                      <a:pPr marL="0" indent="0" algn="ctr">
                        <a:lnSpc>
                          <a:spcPct val="100000"/>
                        </a:lnSpc>
                        <a:defRPr/>
                      </a:pPr>
                      <a:r>
                        <a:rPr lang="en-US" sz="1300" b="1" i="0" u="none" strike="noStrike">
                          <a:solidFill>
                            <a:srgbClr val="F59E0B"/>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endParaRPr lang="en-US" sz="1100"/>
                    </a:p>
                  </a:txBody>
                  <a:tcPr marL="101600" marR="101600" marT="101600" marB="101600" anchor="t" anchorCtr="0">
                    <a:lnL>
                      <a:noFill/>
                    </a:lnL>
                    <a:lnR>
                      <a:noFill/>
                    </a:lnR>
                    <a:lnT w="12700" cap="flat" cmpd="sng" algn="ctr">
                      <a:solidFill>
                        <a:srgbClr val="22C55E"/>
                      </a:solidFill>
                      <a:prstDash val="solid"/>
                      <a:round/>
                      <a:headEnd type="none" w="med" len="med"/>
                      <a:tailEnd type="none" w="med" len="med"/>
                    </a:lnT>
                    <a:lnB>
                      <a:noFill/>
                    </a:lnB>
                    <a:solidFill>
                      <a:srgbClr val="F0FDF4">
                        <a:alpha val="92000"/>
                      </a:srgbClr>
                    </a:solidFill>
                  </a:tcPr>
                </a:tc>
              </a:tr>
            </a:tbl>
          </a:graphicData>
        </a:graphic>
      </p:graphicFrame>
      <p:sp>
        <p:nvSpPr>
          <p:cNvPr id="5" name="AutoShape 5"/>
          <p:cNvSpPr/>
          <p:nvPr/>
        </p:nvSpPr>
        <p:spPr>
          <a:xfrm>
            <a:off x="762000" y="6254115"/>
            <a:ext cx="10668000" cy="56261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79500" y="5967095"/>
            <a:ext cx="1003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共覆盖10种UML图，形成完整的建模闭环。</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三次迭代演进历程总览</a:t>
            </a:r>
            <a:endParaRPr lang="en-US" sz="1100"/>
          </a:p>
        </p:txBody>
      </p:sp>
      <p:sp>
        <p:nvSpPr>
          <p:cNvPr id="4" name="AutoShape 4"/>
          <p:cNvSpPr/>
          <p:nvPr>
            <p:custDataLst>
              <p:tags r:id="rId2"/>
            </p:custDataLst>
          </p:nvPr>
        </p:nvSpPr>
        <p:spPr>
          <a:xfrm>
            <a:off x="762000" y="1651000"/>
            <a:ext cx="3556000" cy="317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50800" cy="3175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952500" y="1752600"/>
            <a:ext cx="3175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第一次迭代</a:t>
            </a:r>
            <a:endParaRPr lang="en-US" sz="1100"/>
          </a:p>
        </p:txBody>
      </p:sp>
      <p:sp>
        <p:nvSpPr>
          <p:cNvPr id="7" name="AutoShape 7"/>
          <p:cNvSpPr/>
          <p:nvPr>
            <p:custDataLst>
              <p:tags r:id="rId5"/>
            </p:custDataLst>
          </p:nvPr>
        </p:nvSpPr>
        <p:spPr>
          <a:xfrm>
            <a:off x="952500" y="2349500"/>
            <a:ext cx="3238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核心任务：需求分析与基础模型构建</a:t>
            </a:r>
            <a:endParaRPr lang="en-US" sz="1100"/>
          </a:p>
        </p:txBody>
      </p:sp>
      <p:cxnSp>
        <p:nvCxnSpPr>
          <p:cNvPr id="8" name="Connector 8"/>
          <p:cNvCxnSpPr/>
          <p:nvPr>
            <p:custDataLst>
              <p:tags r:id="rId6"/>
            </p:custDataLst>
          </p:nvPr>
        </p:nvCxnSpPr>
        <p:spPr>
          <a:xfrm rot="-13481">
            <a:off x="952512" y="3041650"/>
            <a:ext cx="3238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9" name="AutoShape 9"/>
          <p:cNvSpPr/>
          <p:nvPr>
            <p:custDataLst>
              <p:tags r:id="rId7"/>
            </p:custDataLst>
          </p:nvPr>
        </p:nvSpPr>
        <p:spPr>
          <a:xfrm>
            <a:off x="952500" y="3175000"/>
            <a:ext cx="3238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24个核心业务用例描述与用例图</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建立精准领域模型</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定义系统质量属性(FURPS+)</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8"/>
            </p:custDataLst>
          </p:nvPr>
        </p:nvSpPr>
        <p:spPr>
          <a:xfrm>
            <a:off x="4508500" y="1651000"/>
            <a:ext cx="3556000" cy="317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4508500" y="1651000"/>
            <a:ext cx="50800" cy="3175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4699000" y="1752600"/>
            <a:ext cx="3175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第二次迭代</a:t>
            </a:r>
            <a:endParaRPr lang="en-US" sz="1100"/>
          </a:p>
        </p:txBody>
      </p:sp>
      <p:sp>
        <p:nvSpPr>
          <p:cNvPr id="13" name="AutoShape 13"/>
          <p:cNvSpPr/>
          <p:nvPr>
            <p:custDataLst>
              <p:tags r:id="rId11"/>
            </p:custDataLst>
          </p:nvPr>
        </p:nvSpPr>
        <p:spPr>
          <a:xfrm>
            <a:off x="4699000" y="2349500"/>
            <a:ext cx="3238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核心任务：补齐简历与面试核心功能</a:t>
            </a:r>
            <a:endParaRPr lang="en-US" sz="1100"/>
          </a:p>
        </p:txBody>
      </p:sp>
      <p:cxnSp>
        <p:nvCxnSpPr>
          <p:cNvPr id="14" name="Connector 14"/>
          <p:cNvCxnSpPr/>
          <p:nvPr>
            <p:custDataLst>
              <p:tags r:id="rId12"/>
            </p:custDataLst>
          </p:nvPr>
        </p:nvCxnSpPr>
        <p:spPr>
          <a:xfrm rot="-13481">
            <a:off x="4699012" y="3041650"/>
            <a:ext cx="3238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5" name="AutoShape 15"/>
          <p:cNvSpPr/>
          <p:nvPr>
            <p:custDataLst>
              <p:tags r:id="rId13"/>
            </p:custDataLst>
          </p:nvPr>
        </p:nvSpPr>
        <p:spPr>
          <a:xfrm>
            <a:off x="4699000" y="3175000"/>
            <a:ext cx="3238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新增关键业务用例(No.25/26)</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制定全功能模块操作契约</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形成完整求职业务闭环</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4"/>
            </p:custDataLst>
          </p:nvPr>
        </p:nvSpPr>
        <p:spPr>
          <a:xfrm>
            <a:off x="8255000" y="1651000"/>
            <a:ext cx="3556000" cy="3175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8255000" y="1651000"/>
            <a:ext cx="50800" cy="3175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6"/>
            </p:custDataLst>
          </p:nvPr>
        </p:nvSpPr>
        <p:spPr>
          <a:xfrm>
            <a:off x="8445500" y="1752600"/>
            <a:ext cx="3175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第三次迭代</a:t>
            </a:r>
            <a:endParaRPr lang="en-US" sz="1100"/>
          </a:p>
        </p:txBody>
      </p:sp>
      <p:sp>
        <p:nvSpPr>
          <p:cNvPr id="19" name="AutoShape 19"/>
          <p:cNvSpPr/>
          <p:nvPr>
            <p:custDataLst>
              <p:tags r:id="rId17"/>
            </p:custDataLst>
          </p:nvPr>
        </p:nvSpPr>
        <p:spPr>
          <a:xfrm>
            <a:off x="8445500" y="2349500"/>
            <a:ext cx="3238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核心任务：设计落地与全流程验证</a:t>
            </a:r>
            <a:endParaRPr lang="en-US" sz="1100"/>
          </a:p>
        </p:txBody>
      </p:sp>
      <p:cxnSp>
        <p:nvCxnSpPr>
          <p:cNvPr id="20" name="Connector 20"/>
          <p:cNvCxnSpPr/>
          <p:nvPr>
            <p:custDataLst>
              <p:tags r:id="rId18"/>
            </p:custDataLst>
          </p:nvPr>
        </p:nvCxnSpPr>
        <p:spPr>
          <a:xfrm rot="-13481">
            <a:off x="8445512" y="3041650"/>
            <a:ext cx="32385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1" name="AutoShape 21"/>
          <p:cNvSpPr/>
          <p:nvPr>
            <p:custDataLst>
              <p:tags r:id="rId19"/>
            </p:custDataLst>
          </p:nvPr>
        </p:nvSpPr>
        <p:spPr>
          <a:xfrm>
            <a:off x="8445500" y="3175000"/>
            <a:ext cx="3238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产出顺序图/逻辑架构/包图</a:t>
            </a:r>
            <a:endParaRPr lang="en-US" sz="1100"/>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完成部署规划</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原型界面设计</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22" name="文本框 21"/>
          <p:cNvSpPr txBox="1"/>
          <p:nvPr/>
        </p:nvSpPr>
        <p:spPr>
          <a:xfrm>
            <a:off x="972185" y="1430020"/>
            <a:ext cx="4064000" cy="1091565"/>
          </a:xfrm>
          <a:prstGeom prst="rect">
            <a:avLst/>
          </a:prstGeom>
          <a:noFill/>
        </p:spPr>
        <p:txBody>
          <a:bodyPr wrap="square" rtlCol="0">
            <a:spAutoFit/>
          </a:bodyPr>
          <a:p>
            <a:pPr algn="l">
              <a:lnSpc>
                <a:spcPct val="125000"/>
              </a:lnSpc>
              <a:buSzTx/>
              <a:defRPr/>
            </a:pPr>
            <a:r>
              <a:rPr lang="en-US" sz="5200" b="1">
                <a:solidFill>
                  <a:schemeClr val="tx1"/>
                </a:solidFill>
                <a:latin typeface="Noto Sans SC" panose="020B0200000000000000" charset="-122"/>
                <a:ea typeface="Noto Sans SC" panose="020B0200000000000000" charset="-122"/>
                <a:cs typeface="Noto Sans SC" panose="020B0200000000000000" charset="-122"/>
              </a:rPr>
              <a:t>感谢聆听</a:t>
            </a:r>
            <a:endParaRPr lang="en-US" sz="5200" b="1">
              <a:solidFill>
                <a:schemeClr val="tx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350,&quot;left&quot;:60,&quot;top&quot;:130,&quot;width&quot;:840}"/>
</p:tagLst>
</file>

<file path=ppt/tags/tag2.xml><?xml version="1.0" encoding="utf-8"?>
<p:tagLst xmlns:p="http://schemas.openxmlformats.org/presentationml/2006/main">
  <p:tag name="KSO_WM_DIAGRAM_VIRTUALLY_FRAME" val="{&quot;height&quot;:350,&quot;left&quot;:60,&quot;top&quot;:130,&quot;width&quot;:840}"/>
</p:tagLst>
</file>

<file path=ppt/tags/tag3.xml><?xml version="1.0" encoding="utf-8"?>
<p:tagLst xmlns:p="http://schemas.openxmlformats.org/presentationml/2006/main">
  <p:tag name="KSO_WM_DIAGRAM_VIRTUALLY_FRAME" val="{&quot;height&quot;:350,&quot;left&quot;:60,&quot;top&quot;:130,&quot;width&quot;:840}"/>
</p:tagLst>
</file>

<file path=ppt/tags/tag4.xml><?xml version="1.0" encoding="utf-8"?>
<p:tagLst xmlns:p="http://schemas.openxmlformats.org/presentationml/2006/main">
  <p:tag name="KSO_WM_DIAGRAM_VIRTUALLY_FRAME" val="{&quot;height&quot;:350,&quot;left&quot;:60,&quot;top&quot;:130,&quot;width&quot;:840}"/>
</p:tagLst>
</file>

<file path=ppt/tags/tag5.xml><?xml version="1.0" encoding="utf-8"?>
<p:tagLst xmlns:p="http://schemas.openxmlformats.org/presentationml/2006/main">
  <p:tag name="KSO_WM_DIAGRAM_VIRTUALLY_FRAME" val="{&quot;height&quot;:350,&quot;left&quot;:60,&quot;top&quot;:130,&quot;width&quot;:840}"/>
</p:tagLst>
</file>

<file path=ppt/tags/tag6.xml><?xml version="1.0" encoding="utf-8"?>
<p:tagLst xmlns:p="http://schemas.openxmlformats.org/presentationml/2006/main">
  <p:tag name="KSO_WM_DIAGRAM_VIRTUALLY_FRAME" val="{&quot;height&quot;:350,&quot;left&quot;:60,&quot;top&quot;:130,&quot;width&quot;:840}"/>
</p:tagLst>
</file>

<file path=ppt/tags/tag7.xml><?xml version="1.0" encoding="utf-8"?>
<p:tagLst xmlns:p="http://schemas.openxmlformats.org/presentationml/2006/main">
  <p:tag name="KSO_WM_DIAGRAM_VIRTUALLY_FRAME" val="{&quot;height&quot;:350,&quot;left&quot;:60,&quot;top&quot;:130,&quot;width&quot;:840}"/>
</p:tagLst>
</file>

<file path=ppt/tags/tag8.xml><?xml version="1.0" encoding="utf-8"?>
<p:tagLst xmlns:p="http://schemas.openxmlformats.org/presentationml/2006/main">
  <p:tag name="KSO_WM_DIAGRAM_VIRTUALLY_FRAME" val="{&quot;height&quot;:350,&quot;left&quot;:60,&quot;top&quot;:130,&quot;width&quot;:840}"/>
</p:tagLst>
</file>

<file path=ppt/tags/tag9.xml><?xml version="1.0" encoding="utf-8"?>
<p:tagLst xmlns:p="http://schemas.openxmlformats.org/presentationml/2006/main">
  <p:tag name="KSO_WM_DIAGRAM_VIRTUALLY_FRAME" val="{&quot;height&quot;:350,&quot;left&quot;:60,&quot;top&quot;:130,&quot;width&quot;:840}"/>
</p:tagLst>
</file>

<file path=ppt/tags/tag10.xml><?xml version="1.0" encoding="utf-8"?>
<p:tagLst xmlns:p="http://schemas.openxmlformats.org/presentationml/2006/main">
  <p:tag name="KSO_WM_DIAGRAM_VIRTUALLY_FRAME" val="{&quot;height&quot;:350,&quot;left&quot;:60,&quot;top&quot;:130,&quot;width&quot;:840}"/>
</p:tagLst>
</file>

<file path=ppt/tags/tag11.xml><?xml version="1.0" encoding="utf-8"?>
<p:tagLst xmlns:p="http://schemas.openxmlformats.org/presentationml/2006/main">
  <p:tag name="KSO_WM_DIAGRAM_VIRTUALLY_FRAME" val="{&quot;height&quot;:350,&quot;left&quot;:60,&quot;top&quot;:130,&quot;width&quot;:840}"/>
</p:tagLst>
</file>

<file path=ppt/tags/tag12.xml><?xml version="1.0" encoding="utf-8"?>
<p:tagLst xmlns:p="http://schemas.openxmlformats.org/presentationml/2006/main">
  <p:tag name="KSO_WM_DIAGRAM_VIRTUALLY_FRAME" val="{&quot;height&quot;:350,&quot;left&quot;:60,&quot;top&quot;:130,&quot;width&quot;:840}"/>
</p:tagLst>
</file>

<file path=ppt/tags/tag13.xml><?xml version="1.0" encoding="utf-8"?>
<p:tagLst xmlns:p="http://schemas.openxmlformats.org/presentationml/2006/main">
  <p:tag name="KSO_WM_DIAGRAM_VIRTUALLY_FRAME" val="{&quot;height&quot;:350,&quot;left&quot;:60,&quot;top&quot;:130,&quot;width&quot;:840}"/>
</p:tagLst>
</file>

<file path=ppt/tags/tag14.xml><?xml version="1.0" encoding="utf-8"?>
<p:tagLst xmlns:p="http://schemas.openxmlformats.org/presentationml/2006/main">
  <p:tag name="KSO_WM_DIAGRAM_VIRTUALLY_FRAME" val="{&quot;height&quot;:350,&quot;left&quot;:60,&quot;top&quot;:130,&quot;width&quot;:840}"/>
</p:tagLst>
</file>

<file path=ppt/tags/tag15.xml><?xml version="1.0" encoding="utf-8"?>
<p:tagLst xmlns:p="http://schemas.openxmlformats.org/presentationml/2006/main">
  <p:tag name="KSO_WM_DIAGRAM_VIRTUALLY_FRAME" val="{&quot;height&quot;:350,&quot;left&quot;:60,&quot;top&quot;:130,&quot;width&quot;:840}"/>
</p:tagLst>
</file>

<file path=ppt/tags/tag16.xml><?xml version="1.0" encoding="utf-8"?>
<p:tagLst xmlns:p="http://schemas.openxmlformats.org/presentationml/2006/main">
  <p:tag name="KSO_WM_DIAGRAM_VIRTUALLY_FRAME" val="{&quot;height&quot;:350,&quot;left&quot;:60,&quot;top&quot;:130,&quot;width&quot;:840}"/>
</p:tagLst>
</file>

<file path=ppt/tags/tag17.xml><?xml version="1.0" encoding="utf-8"?>
<p:tagLst xmlns:p="http://schemas.openxmlformats.org/presentationml/2006/main">
  <p:tag name="KSO_WM_DIAGRAM_VIRTUALLY_FRAME" val="{&quot;height&quot;:350,&quot;left&quot;:60,&quot;top&quot;:130,&quot;width&quot;:840}"/>
</p:tagLst>
</file>

<file path=ppt/tags/tag18.xml><?xml version="1.0" encoding="utf-8"?>
<p:tagLst xmlns:p="http://schemas.openxmlformats.org/presentationml/2006/main">
  <p:tag name="KSO_WM_DIAGRAM_VIRTUALLY_FRAME" val="{&quot;height&quot;:350,&quot;left&quot;:60,&quot;top&quot;:130,&quot;width&quot;:840}"/>
</p:tagLst>
</file>

<file path=ppt/tags/tag19.xml><?xml version="1.0" encoding="utf-8"?>
<p:tagLst xmlns:p="http://schemas.openxmlformats.org/presentationml/2006/main">
  <p:tag name="KSO_WM_DIAGRAM_VIRTUALLY_FRAME" val="{&quot;height&quot;:350,&quot;left&quot;:60,&quot;top&quot;:130,&quot;width&quot;:840}"/>
</p:tagLst>
</file>

<file path=ppt/tags/tag20.xml><?xml version="1.0" encoding="utf-8"?>
<p:tagLst xmlns:p="http://schemas.openxmlformats.org/presentationml/2006/main">
  <p:tag name="KSO_WM_DIAGRAM_VIRTUALLY_FRAME" val="{&quot;height&quot;:350,&quot;left&quot;:60,&quot;top&quot;:130,&quot;width&quot;:840}"/>
</p:tagLst>
</file>

<file path=ppt/tags/tag21.xml><?xml version="1.0" encoding="utf-8"?>
<p:tagLst xmlns:p="http://schemas.openxmlformats.org/presentationml/2006/main">
  <p:tag name="KSO_WM_DIAGRAM_VIRTUALLY_FRAME" val="{&quot;height&quot;:350,&quot;left&quot;:60,&quot;top&quot;:130,&quot;width&quot;:840}"/>
</p:tagLst>
</file>

<file path=ppt/tags/tag22.xml><?xml version="1.0" encoding="utf-8"?>
<p:tagLst xmlns:p="http://schemas.openxmlformats.org/presentationml/2006/main">
  <p:tag name="KSO_WM_DIAGRAM_VIRTUALLY_FRAME" val="{&quot;height&quot;:186.4,&quot;left&quot;:60,&quot;top&quot;:120,&quot;width&quot;:859}"/>
</p:tagLst>
</file>

<file path=ppt/tags/tag23.xml><?xml version="1.0" encoding="utf-8"?>
<p:tagLst xmlns:p="http://schemas.openxmlformats.org/presentationml/2006/main">
  <p:tag name="KSO_WM_DIAGRAM_VIRTUALLY_FRAME" val="{&quot;height&quot;:186.4,&quot;left&quot;:60,&quot;top&quot;:120,&quot;width&quot;:859}"/>
</p:tagLst>
</file>

<file path=ppt/tags/tag24.xml><?xml version="1.0" encoding="utf-8"?>
<p:tagLst xmlns:p="http://schemas.openxmlformats.org/presentationml/2006/main">
  <p:tag name="KSO_WM_DIAGRAM_VIRTUALLY_FRAME" val="{&quot;height&quot;:186.4,&quot;left&quot;:60,&quot;top&quot;:120,&quot;width&quot;:859}"/>
</p:tagLst>
</file>

<file path=ppt/tags/tag25.xml><?xml version="1.0" encoding="utf-8"?>
<p:tagLst xmlns:p="http://schemas.openxmlformats.org/presentationml/2006/main">
  <p:tag name="KSO_WM_DIAGRAM_VIRTUALLY_FRAME" val="{&quot;height&quot;:186.4,&quot;left&quot;:60,&quot;top&quot;:120,&quot;width&quot;:859}"/>
</p:tagLst>
</file>

<file path=ppt/tags/tag26.xml><?xml version="1.0" encoding="utf-8"?>
<p:tagLst xmlns:p="http://schemas.openxmlformats.org/presentationml/2006/main">
  <p:tag name="KSO_WM_DIAGRAM_VIRTUALLY_FRAME" val="{&quot;height&quot;:186.4,&quot;left&quot;:60,&quot;top&quot;:120,&quot;width&quot;:859}"/>
</p:tagLst>
</file>

<file path=ppt/tags/tag27.xml><?xml version="1.0" encoding="utf-8"?>
<p:tagLst xmlns:p="http://schemas.openxmlformats.org/presentationml/2006/main">
  <p:tag name="KSO_WM_DIAGRAM_VIRTUALLY_FRAME" val="{&quot;height&quot;:186.4,&quot;left&quot;:60,&quot;top&quot;:120,&quot;width&quot;:859}"/>
</p:tagLst>
</file>

<file path=ppt/tags/tag28.xml><?xml version="1.0" encoding="utf-8"?>
<p:tagLst xmlns:p="http://schemas.openxmlformats.org/presentationml/2006/main">
  <p:tag name="KSO_WM_DIAGRAM_VIRTUALLY_FRAME" val="{&quot;height&quot;:186.4,&quot;left&quot;:60,&quot;top&quot;:120,&quot;width&quot;:859}"/>
</p:tagLst>
</file>

<file path=ppt/tags/tag29.xml><?xml version="1.0" encoding="utf-8"?>
<p:tagLst xmlns:p="http://schemas.openxmlformats.org/presentationml/2006/main">
  <p:tag name="KSO_WM_DIAGRAM_VIRTUALLY_FRAME" val="{&quot;height&quot;:186.4,&quot;left&quot;:60,&quot;top&quot;:120,&quot;width&quot;:859}"/>
</p:tagLst>
</file>

<file path=ppt/tags/tag30.xml><?xml version="1.0" encoding="utf-8"?>
<p:tagLst xmlns:p="http://schemas.openxmlformats.org/presentationml/2006/main">
  <p:tag name="KSO_WM_DIAGRAM_VIRTUALLY_FRAME" val="{&quot;height&quot;:186.4,&quot;left&quot;:60,&quot;top&quot;:120,&quot;width&quot;:859}"/>
</p:tagLst>
</file>

<file path=ppt/tags/tag31.xml><?xml version="1.0" encoding="utf-8"?>
<p:tagLst xmlns:p="http://schemas.openxmlformats.org/presentationml/2006/main">
  <p:tag name="KSO_WM_DIAGRAM_VIRTUALLY_FRAME" val="{&quot;height&quot;:186.4,&quot;left&quot;:60,&quot;top&quot;:120,&quot;width&quot;:859}"/>
</p:tagLst>
</file>

<file path=ppt/tags/tag32.xml><?xml version="1.0" encoding="utf-8"?>
<p:tagLst xmlns:p="http://schemas.openxmlformats.org/presentationml/2006/main">
  <p:tag name="KSO_WM_DIAGRAM_VIRTUALLY_FRAME" val="{&quot;height&quot;:186.4,&quot;left&quot;:60,&quot;top&quot;:120,&quot;width&quot;:859}"/>
</p:tagLst>
</file>

<file path=ppt/tags/tag33.xml><?xml version="1.0" encoding="utf-8"?>
<p:tagLst xmlns:p="http://schemas.openxmlformats.org/presentationml/2006/main">
  <p:tag name="KSO_WM_DIAGRAM_VIRTUALLY_FRAME" val="{&quot;height&quot;:186.4,&quot;left&quot;:60,&quot;top&quot;:120,&quot;width&quot;:859}"/>
</p:tagLst>
</file>

<file path=ppt/tags/tag34.xml><?xml version="1.0" encoding="utf-8"?>
<p:tagLst xmlns:p="http://schemas.openxmlformats.org/presentationml/2006/main">
  <p:tag name="KSO_WM_DIAGRAM_VIRTUALLY_FRAME" val="{&quot;height&quot;:186.4,&quot;left&quot;:60,&quot;top&quot;:120,&quot;width&quot;:859}"/>
</p:tagLst>
</file>

<file path=ppt/tags/tag35.xml><?xml version="1.0" encoding="utf-8"?>
<p:tagLst xmlns:p="http://schemas.openxmlformats.org/presentationml/2006/main">
  <p:tag name="KSO_WM_DIAGRAM_VIRTUALLY_FRAME" val="{&quot;height&quot;:186.4,&quot;left&quot;:60,&quot;top&quot;:120,&quot;width&quot;:859}"/>
</p:tagLst>
</file>

<file path=ppt/tags/tag36.xml><?xml version="1.0" encoding="utf-8"?>
<p:tagLst xmlns:p="http://schemas.openxmlformats.org/presentationml/2006/main">
  <p:tag name="KSO_WM_DIAGRAM_VIRTUALLY_FRAME" val="{&quot;height&quot;:186.4,&quot;left&quot;:60,&quot;top&quot;:120,&quot;width&quot;:859}"/>
</p:tagLst>
</file>

<file path=ppt/tags/tag37.xml><?xml version="1.0" encoding="utf-8"?>
<p:tagLst xmlns:p="http://schemas.openxmlformats.org/presentationml/2006/main">
  <p:tag name="KSO_WM_DIAGRAM_VIRTUALLY_FRAME" val="{&quot;height&quot;:186.4,&quot;left&quot;:60,&quot;top&quot;:120,&quot;width&quot;:859}"/>
</p:tagLst>
</file>

<file path=ppt/tags/tag38.xml><?xml version="1.0" encoding="utf-8"?>
<p:tagLst xmlns:p="http://schemas.openxmlformats.org/presentationml/2006/main">
  <p:tag name="KSO_WM_DIAGRAM_VIRTUALLY_FRAME" val="{&quot;height&quot;:87.6,&quot;left&quot;:200,&quot;top&quot;:405,&quot;width&quot;:610}"/>
</p:tagLst>
</file>

<file path=ppt/tags/tag39.xml><?xml version="1.0" encoding="utf-8"?>
<p:tagLst xmlns:p="http://schemas.openxmlformats.org/presentationml/2006/main">
  <p:tag name="KSO_WM_DIAGRAM_VIRTUALLY_FRAME" val="{&quot;height&quot;:87.6,&quot;left&quot;:200,&quot;top&quot;:405,&quot;width&quot;:610}"/>
</p:tagLst>
</file>

<file path=ppt/tags/tag40.xml><?xml version="1.0" encoding="utf-8"?>
<p:tagLst xmlns:p="http://schemas.openxmlformats.org/presentationml/2006/main">
  <p:tag name="KSO_WM_DIAGRAM_VIRTUALLY_FRAME" val="{&quot;height&quot;:87.6,&quot;left&quot;:200,&quot;top&quot;:405,&quot;width&quot;:610}"/>
</p:tagLst>
</file>

<file path=ppt/tags/tag41.xml><?xml version="1.0" encoding="utf-8"?>
<p:tagLst xmlns:p="http://schemas.openxmlformats.org/presentationml/2006/main">
  <p:tag name="KSO_WM_DIAGRAM_VIRTUALLY_FRAME" val="{&quot;height&quot;:87.6,&quot;left&quot;:200,&quot;top&quot;:405,&quot;width&quot;:610}"/>
</p:tagLst>
</file>

<file path=ppt/tags/tag42.xml><?xml version="1.0" encoding="utf-8"?>
<p:tagLst xmlns:p="http://schemas.openxmlformats.org/presentationml/2006/main">
  <p:tag name="KSO_WM_DIAGRAM_VIRTUALLY_FRAME" val="{&quot;height&quot;:87.6,&quot;left&quot;:200,&quot;top&quot;:405,&quot;width&quot;:610}"/>
</p:tagLst>
</file>

<file path=ppt/tags/tag43.xml><?xml version="1.0" encoding="utf-8"?>
<p:tagLst xmlns:p="http://schemas.openxmlformats.org/presentationml/2006/main">
  <p:tag name="KSO_WM_DIAGRAM_VIRTUALLY_FRAME" val="{&quot;height&quot;:87.6,&quot;left&quot;:200,&quot;top&quot;:405,&quot;width&quot;:610}"/>
</p:tagLst>
</file>

<file path=ppt/tags/tag44.xml><?xml version="1.0" encoding="utf-8"?>
<p:tagLst xmlns:p="http://schemas.openxmlformats.org/presentationml/2006/main">
  <p:tag name="KSO_WM_DIAGRAM_VIRTUALLY_FRAME" val="{&quot;height&quot;:87.6,&quot;left&quot;:200,&quot;top&quot;:405,&quot;width&quot;:610}"/>
</p:tagLst>
</file>

<file path=ppt/tags/tag45.xml><?xml version="1.0" encoding="utf-8"?>
<p:tagLst xmlns:p="http://schemas.openxmlformats.org/presentationml/2006/main">
  <p:tag name="KSO_WM_DIAGRAM_VIRTUALLY_FRAME" val="{&quot;height&quot;:87.6,&quot;left&quot;:200,&quot;top&quot;:405,&quot;width&quot;:610}"/>
</p:tagLst>
</file>

<file path=ppt/tags/tag46.xml><?xml version="1.0" encoding="utf-8"?>
<p:tagLst xmlns:p="http://schemas.openxmlformats.org/presentationml/2006/main">
  <p:tag name="KSO_WM_DIAGRAM_VIRTUALLY_FRAME" val="{&quot;height&quot;:87.6,&quot;left&quot;:200,&quot;top&quot;:405,&quot;width&quot;:610}"/>
</p:tagLst>
</file>

<file path=ppt/tags/tag47.xml><?xml version="1.0" encoding="utf-8"?>
<p:tagLst xmlns:p="http://schemas.openxmlformats.org/presentationml/2006/main">
  <p:tag name="KSO_WM_DIAGRAM_VIRTUALLY_FRAME" val="{&quot;height&quot;:87.6,&quot;left&quot;:200,&quot;top&quot;:405,&quot;width&quot;:610}"/>
</p:tagLst>
</file>

<file path=ppt/tags/tag48.xml><?xml version="1.0" encoding="utf-8"?>
<p:tagLst xmlns:p="http://schemas.openxmlformats.org/presentationml/2006/main">
  <p:tag name="KSO_WM_DIAGRAM_VIRTUALLY_FRAME" val="{&quot;height&quot;:87.6,&quot;left&quot;:200,&quot;top&quot;:405,&quot;width&quot;:610}"/>
</p:tagLst>
</file>

<file path=ppt/tags/tag49.xml><?xml version="1.0" encoding="utf-8"?>
<p:tagLst xmlns:p="http://schemas.openxmlformats.org/presentationml/2006/main">
  <p:tag name="KSO_WM_DIAGRAM_VIRTUALLY_FRAME" val="{&quot;height&quot;:87.6,&quot;left&quot;:200,&quot;top&quot;:405,&quot;width&quot;:610}"/>
</p:tagLst>
</file>

<file path=ppt/tags/tag50.xml><?xml version="1.0" encoding="utf-8"?>
<p:tagLst xmlns:p="http://schemas.openxmlformats.org/presentationml/2006/main">
  <p:tag name="KSO_WM_DIAGRAM_VIRTUALLY_FRAME" val="{&quot;height&quot;:87.6,&quot;left&quot;:200,&quot;top&quot;:405,&quot;width&quot;:610}"/>
</p:tagLst>
</file>

<file path=ppt/tags/tag51.xml><?xml version="1.0" encoding="utf-8"?>
<p:tagLst xmlns:p="http://schemas.openxmlformats.org/presentationml/2006/main">
  <p:tag name="KSO_WM_DIAGRAM_VIRTUALLY_FRAME" val="{&quot;height&quot;:87.6,&quot;left&quot;:200,&quot;top&quot;:405,&quot;width&quot;:610}"/>
</p:tagLst>
</file>

<file path=ppt/tags/tag52.xml><?xml version="1.0" encoding="utf-8"?>
<p:tagLst xmlns:p="http://schemas.openxmlformats.org/presentationml/2006/main">
  <p:tag name="KSO_WM_DIAGRAM_VIRTUALLY_FRAME" val="{&quot;height&quot;:87.6,&quot;left&quot;:200,&quot;top&quot;:405,&quot;width&quot;:610}"/>
</p:tagLst>
</file>

<file path=ppt/tags/tag53.xml><?xml version="1.0" encoding="utf-8"?>
<p:tagLst xmlns:p="http://schemas.openxmlformats.org/presentationml/2006/main">
  <p:tag name="KSO_WM_DIAGRAM_VIRTUALLY_FRAME" val="{&quot;height&quot;:87.6,&quot;left&quot;:200,&quot;top&quot;:405,&quot;width&quot;:610}"/>
</p:tagLst>
</file>

<file path=ppt/tags/tag54.xml><?xml version="1.0" encoding="utf-8"?>
<p:tagLst xmlns:p="http://schemas.openxmlformats.org/presentationml/2006/main">
  <p:tag name="KSO_WM_DIAGRAM_VIRTUALLY_FRAME" val="{&quot;height&quot;:245.5,&quot;left&quot;:644.55,&quot;top&quot;:150.05,&quot;width&quot;:295.8}"/>
</p:tagLst>
</file>

<file path=ppt/tags/tag55.xml><?xml version="1.0" encoding="utf-8"?>
<p:tagLst xmlns:p="http://schemas.openxmlformats.org/presentationml/2006/main">
  <p:tag name="KSO_WM_DIAGRAM_VIRTUALLY_FRAME" val="{&quot;height&quot;:245.5,&quot;left&quot;:644.55,&quot;top&quot;:150.05,&quot;width&quot;:295.8}"/>
</p:tagLst>
</file>

<file path=ppt/tags/tag56.xml><?xml version="1.0" encoding="utf-8"?>
<p:tagLst xmlns:p="http://schemas.openxmlformats.org/presentationml/2006/main">
  <p:tag name="KSO_WM_DIAGRAM_VIRTUALLY_FRAME" val="{&quot;height&quot;:245.5,&quot;left&quot;:644.55,&quot;top&quot;:150.05,&quot;width&quot;:295.8}"/>
</p:tagLst>
</file>

<file path=ppt/tags/tag57.xml><?xml version="1.0" encoding="utf-8"?>
<p:tagLst xmlns:p="http://schemas.openxmlformats.org/presentationml/2006/main">
  <p:tag name="KSO_WM_DIAGRAM_VIRTUALLY_FRAME" val="{&quot;height&quot;:245.5,&quot;left&quot;:644.55,&quot;top&quot;:150.05,&quot;width&quot;:295.8}"/>
</p:tagLst>
</file>

<file path=ppt/tags/tag58.xml><?xml version="1.0" encoding="utf-8"?>
<p:tagLst xmlns:p="http://schemas.openxmlformats.org/presentationml/2006/main">
  <p:tag name="KSO_WM_DIAGRAM_VIRTUALLY_FRAME" val="{&quot;height&quot;:245.5,&quot;left&quot;:644.55,&quot;top&quot;:150.05,&quot;width&quot;:295.8}"/>
</p:tagLst>
</file>

<file path=ppt/tags/tag59.xml><?xml version="1.0" encoding="utf-8"?>
<p:tagLst xmlns:p="http://schemas.openxmlformats.org/presentationml/2006/main">
  <p:tag name="KSO_WM_DIAGRAM_VIRTUALLY_FRAME" val="{&quot;height&quot;:245.5,&quot;left&quot;:644.55,&quot;top&quot;:150.05,&quot;width&quot;:295.8}"/>
</p:tagLst>
</file>

<file path=ppt/tags/tag60.xml><?xml version="1.0" encoding="utf-8"?>
<p:tagLst xmlns:p="http://schemas.openxmlformats.org/presentationml/2006/main">
  <p:tag name="KSO_WM_DIAGRAM_VIRTUALLY_FRAME" val="{&quot;height&quot;:245.5,&quot;left&quot;:644.55,&quot;top&quot;:150.05,&quot;width&quot;:295.8}"/>
</p:tagLst>
</file>

<file path=ppt/tags/tag61.xml><?xml version="1.0" encoding="utf-8"?>
<p:tagLst xmlns:p="http://schemas.openxmlformats.org/presentationml/2006/main">
  <p:tag name="KSO_WM_DIAGRAM_VIRTUALLY_FRAME" val="{&quot;height&quot;:245.5,&quot;left&quot;:644.55,&quot;top&quot;:150.05,&quot;width&quot;:295.8}"/>
</p:tagLst>
</file>

<file path=ppt/tags/tag62.xml><?xml version="1.0" encoding="utf-8"?>
<p:tagLst xmlns:p="http://schemas.openxmlformats.org/presentationml/2006/main">
  <p:tag name="KSO_WM_DIAGRAM_VIRTUALLY_FRAME" val="{&quot;height&quot;:245.5,&quot;left&quot;:644.55,&quot;top&quot;:150.05,&quot;width&quot;:295.8}"/>
</p:tagLst>
</file>

<file path=ppt/tags/tag63.xml><?xml version="1.0" encoding="utf-8"?>
<p:tagLst xmlns:p="http://schemas.openxmlformats.org/presentationml/2006/main">
  <p:tag name="KSO_WM_DIAGRAM_VIRTUALLY_FRAME" val="{&quot;height&quot;:245.5,&quot;left&quot;:644.55,&quot;top&quot;:150.05,&quot;width&quot;:295.8}"/>
</p:tagLst>
</file>

<file path=ppt/tags/tag64.xml><?xml version="1.0" encoding="utf-8"?>
<p:tagLst xmlns:p="http://schemas.openxmlformats.org/presentationml/2006/main">
  <p:tag name="KSO_WM_DIAGRAM_VIRTUALLY_FRAME" val="{&quot;height&quot;:225.2,&quot;left&quot;:60.4,&quot;top&quot;:161.8,&quot;width&quot;:408.95}"/>
</p:tagLst>
</file>

<file path=ppt/tags/tag65.xml><?xml version="1.0" encoding="utf-8"?>
<p:tagLst xmlns:p="http://schemas.openxmlformats.org/presentationml/2006/main">
  <p:tag name="KSO_WM_DIAGRAM_VIRTUALLY_FRAME" val="{&quot;height&quot;:225.2,&quot;left&quot;:60.4,&quot;top&quot;:161.8,&quot;width&quot;:408.95}"/>
</p:tagLst>
</file>

<file path=ppt/tags/tag66.xml><?xml version="1.0" encoding="utf-8"?>
<p:tagLst xmlns:p="http://schemas.openxmlformats.org/presentationml/2006/main">
  <p:tag name="KSO_WM_DIAGRAM_VIRTUALLY_FRAME" val="{&quot;height&quot;:225.2,&quot;left&quot;:60.4,&quot;top&quot;:161.8,&quot;width&quot;:408.95}"/>
</p:tagLst>
</file>

<file path=ppt/tags/tag67.xml><?xml version="1.0" encoding="utf-8"?>
<p:tagLst xmlns:p="http://schemas.openxmlformats.org/presentationml/2006/main">
  <p:tag name="KSO_WM_DIAGRAM_VIRTUALLY_FRAME" val="{&quot;height&quot;:225.2,&quot;left&quot;:60.4,&quot;top&quot;:161.8,&quot;width&quot;:408.95}"/>
</p:tagLst>
</file>

<file path=ppt/tags/tag68.xml><?xml version="1.0" encoding="utf-8"?>
<p:tagLst xmlns:p="http://schemas.openxmlformats.org/presentationml/2006/main">
  <p:tag name="KSO_WM_DIAGRAM_VIRTUALLY_FRAME" val="{&quot;height&quot;:225.2,&quot;left&quot;:60.4,&quot;top&quot;:161.8,&quot;width&quot;:408.95}"/>
</p:tagLst>
</file>

<file path=ppt/tags/tag69.xml><?xml version="1.0" encoding="utf-8"?>
<p:tagLst xmlns:p="http://schemas.openxmlformats.org/presentationml/2006/main">
  <p:tag name="KSO_WM_DIAGRAM_VIRTUALLY_FRAME" val="{&quot;height&quot;:225.2,&quot;left&quot;:60.4,&quot;top&quot;:161.8,&quot;width&quot;:408.95}"/>
</p:tagLst>
</file>

<file path=ppt/tags/tag70.xml><?xml version="1.0" encoding="utf-8"?>
<p:tagLst xmlns:p="http://schemas.openxmlformats.org/presentationml/2006/main">
  <p:tag name="KSO_WM_DIAGRAM_VIRTUALLY_FRAME" val="{&quot;height&quot;:225.2,&quot;left&quot;:60.4,&quot;top&quot;:161.8,&quot;width&quot;:408.95}"/>
</p:tagLst>
</file>

<file path=ppt/tags/tag71.xml><?xml version="1.0" encoding="utf-8"?>
<p:tagLst xmlns:p="http://schemas.openxmlformats.org/presentationml/2006/main">
  <p:tag name="KSO_WM_DIAGRAM_VIRTUALLY_FRAME" val="{&quot;height&quot;:225.2,&quot;left&quot;:60.4,&quot;top&quot;:161.8,&quot;width&quot;:408.95}"/>
</p:tagLst>
</file>

<file path=ppt/tags/tag72.xml><?xml version="1.0" encoding="utf-8"?>
<p:tagLst xmlns:p="http://schemas.openxmlformats.org/presentationml/2006/main">
  <p:tag name="KSO_WM_DIAGRAM_VIRTUALLY_FRAME" val="{&quot;height&quot;:225.2,&quot;left&quot;:60.4,&quot;top&quot;:161.8,&quot;width&quot;:408.95}"/>
</p:tagLst>
</file>

<file path=ppt/tags/tag73.xml><?xml version="1.0" encoding="utf-8"?>
<p:tagLst xmlns:p="http://schemas.openxmlformats.org/presentationml/2006/main">
  <p:tag name="KSO_WM_DIAGRAM_VIRTUALLY_FRAME" val="{&quot;height&quot;:225.2,&quot;left&quot;:60.4,&quot;top&quot;:161.8,&quot;width&quot;:408.95}"/>
</p:tagLst>
</file>

<file path=ppt/tags/tag74.xml><?xml version="1.0" encoding="utf-8"?>
<p:tagLst xmlns:p="http://schemas.openxmlformats.org/presentationml/2006/main">
  <p:tag name="KSO_WM_DIAGRAM_VIRTUALLY_FRAME" val="{&quot;height&quot;:225.2,&quot;left&quot;:60.4,&quot;top&quot;:161.8,&quot;width&quot;:408.95}"/>
</p:tagLst>
</file>

<file path=ppt/tags/tag75.xml><?xml version="1.0" encoding="utf-8"?>
<p:tagLst xmlns:p="http://schemas.openxmlformats.org/presentationml/2006/main">
  <p:tag name="KSO_WM_DIAGRAM_VIRTUALLY_FRAME" val="{&quot;height&quot;:225.2,&quot;left&quot;:60.4,&quot;top&quot;:161.8,&quot;width&quot;:408.95}"/>
</p:tagLst>
</file>

<file path=ppt/tags/tag76.xml><?xml version="1.0" encoding="utf-8"?>
<p:tagLst xmlns:p="http://schemas.openxmlformats.org/presentationml/2006/main">
  <p:tag name="KSO_WM_DIAGRAM_VIRTUALLY_FRAME" val="{&quot;height&quot;:225.2,&quot;left&quot;:60.4,&quot;top&quot;:161.8,&quot;width&quot;:408.95}"/>
</p:tagLst>
</file>

<file path=ppt/tags/tag77.xml><?xml version="1.0" encoding="utf-8"?>
<p:tagLst xmlns:p="http://schemas.openxmlformats.org/presentationml/2006/main">
  <p:tag name="KSO_WM_DIAGRAM_VIRTUALLY_FRAME" val="{&quot;height&quot;:225.2,&quot;left&quot;:60.4,&quot;top&quot;:161.8,&quot;width&quot;:408.95}"/>
</p:tagLst>
</file>

<file path=ppt/tags/tag78.xml><?xml version="1.0" encoding="utf-8"?>
<p:tagLst xmlns:p="http://schemas.openxmlformats.org/presentationml/2006/main">
  <p:tag name="KSO_WM_DIAGRAM_VIRTUALLY_FRAME" val="{&quot;height&quot;:225.2,&quot;left&quot;:60.4,&quot;top&quot;:161.8,&quot;width&quot;:408.95}"/>
</p:tagLst>
</file>

<file path=ppt/tags/tag79.xml><?xml version="1.0" encoding="utf-8"?>
<p:tagLst xmlns:p="http://schemas.openxmlformats.org/presentationml/2006/main">
  <p:tag name="KSO_WM_DIAGRAM_VIRTUALLY_FRAME" val="{&quot;height&quot;:190,&quot;left&quot;:510,&quot;top&quot;:120,&quot;width&quot;:419}"/>
</p:tagLst>
</file>

<file path=ppt/tags/tag80.xml><?xml version="1.0" encoding="utf-8"?>
<p:tagLst xmlns:p="http://schemas.openxmlformats.org/presentationml/2006/main">
  <p:tag name="KSO_WM_DIAGRAM_VIRTUALLY_FRAME" val="{&quot;height&quot;:190,&quot;left&quot;:510,&quot;top&quot;:120,&quot;width&quot;:419}"/>
</p:tagLst>
</file>

<file path=ppt/tags/tag81.xml><?xml version="1.0" encoding="utf-8"?>
<p:tagLst xmlns:p="http://schemas.openxmlformats.org/presentationml/2006/main">
  <p:tag name="KSO_WM_DIAGRAM_VIRTUALLY_FRAME" val="{&quot;height&quot;:190,&quot;left&quot;:510,&quot;top&quot;:120,&quot;width&quot;:419}"/>
</p:tagLst>
</file>

<file path=ppt/tags/tag82.xml><?xml version="1.0" encoding="utf-8"?>
<p:tagLst xmlns:p="http://schemas.openxmlformats.org/presentationml/2006/main">
  <p:tag name="KSO_WM_DIAGRAM_VIRTUALLY_FRAME" val="{&quot;height&quot;:190,&quot;left&quot;:510,&quot;top&quot;:120,&quot;width&quot;:419}"/>
</p:tagLst>
</file>

<file path=ppt/tags/tag83.xml><?xml version="1.0" encoding="utf-8"?>
<p:tagLst xmlns:p="http://schemas.openxmlformats.org/presentationml/2006/main">
  <p:tag name="KSO_WM_DIAGRAM_VIRTUALLY_FRAME" val="{&quot;height&quot;:190,&quot;left&quot;:510,&quot;top&quot;:120,&quot;width&quot;:419}"/>
</p:tagLst>
</file>

<file path=ppt/tags/tag84.xml><?xml version="1.0" encoding="utf-8"?>
<p:tagLst xmlns:p="http://schemas.openxmlformats.org/presentationml/2006/main">
  <p:tag name="KSO_WM_DIAGRAM_VIRTUALLY_FRAME" val="{&quot;height&quot;:190,&quot;left&quot;:510,&quot;top&quot;:120,&quot;width&quot;:419}"/>
</p:tagLst>
</file>

<file path=ppt/tags/tag85.xml><?xml version="1.0" encoding="utf-8"?>
<p:tagLst xmlns:p="http://schemas.openxmlformats.org/presentationml/2006/main">
  <p:tag name="KSO_WM_DIAGRAM_VIRTUALLY_FRAME" val="{&quot;height&quot;:190,&quot;left&quot;:510,&quot;top&quot;:120,&quot;width&quot;:419}"/>
</p:tagLst>
</file>

<file path=ppt/tags/tag86.xml><?xml version="1.0" encoding="utf-8"?>
<p:tagLst xmlns:p="http://schemas.openxmlformats.org/presentationml/2006/main">
  <p:tag name="KSO_WM_DIAGRAM_VIRTUALLY_FRAME" val="{&quot;height&quot;:190,&quot;left&quot;:510,&quot;top&quot;:120,&quot;width&quot;:419}"/>
</p:tagLst>
</file>

<file path=ppt/tags/tag87.xml><?xml version="1.0" encoding="utf-8"?>
<p:tagLst xmlns:p="http://schemas.openxmlformats.org/presentationml/2006/main">
  <p:tag name="KSO_WM_DIAGRAM_VIRTUALLY_FRAME" val="{&quot;height&quot;:190,&quot;left&quot;:510,&quot;top&quot;:120,&quot;width&quot;:419}"/>
</p:tagLst>
</file>

<file path=ppt/tags/tag88.xml><?xml version="1.0" encoding="utf-8"?>
<p:tagLst xmlns:p="http://schemas.openxmlformats.org/presentationml/2006/main">
  <p:tag name="KSO_WM_DIAGRAM_VIRTUALLY_FRAME" val="{&quot;height&quot;:190,&quot;left&quot;:510,&quot;top&quot;:120,&quot;width&quot;:419}"/>
</p:tagLst>
</file>

<file path=ppt/tags/tag89.xml><?xml version="1.0" encoding="utf-8"?>
<p:tagLst xmlns:p="http://schemas.openxmlformats.org/presentationml/2006/main">
  <p:tag name="KSO_WM_DIAGRAM_VIRTUALLY_FRAME" val="{&quot;height&quot;:190,&quot;left&quot;:510,&quot;top&quot;:120,&quot;width&quot;:419}"/>
</p:tagLst>
</file>

<file path=ppt/tags/tag90.xml><?xml version="1.0" encoding="utf-8"?>
<p:tagLst xmlns:p="http://schemas.openxmlformats.org/presentationml/2006/main">
  <p:tag name="KSO_WM_DIAGRAM_VIRTUALLY_FRAME" val="{&quot;height&quot;:190,&quot;left&quot;:510,&quot;top&quot;:120,&quot;width&quot;:419}"/>
</p:tagLst>
</file>

<file path=ppt/tags/tag91.xml><?xml version="1.0" encoding="utf-8"?>
<p:tagLst xmlns:p="http://schemas.openxmlformats.org/presentationml/2006/main">
  <p:tag name="KSO_WM_DIAGRAM_VIRTUALLY_FRAME" val="{&quot;height&quot;:250,&quot;left&quot;:60,&quot;top&quot;:130,&quot;width&quot;:870}"/>
</p:tagLst>
</file>

<file path=ppt/tags/tag92.xml><?xml version="1.0" encoding="utf-8"?>
<p:tagLst xmlns:p="http://schemas.openxmlformats.org/presentationml/2006/main">
  <p:tag name="KSO_WM_DIAGRAM_VIRTUALLY_FRAME" val="{&quot;height&quot;:250,&quot;left&quot;:60,&quot;top&quot;:130,&quot;width&quot;:870}"/>
</p:tagLst>
</file>

<file path=ppt/tags/tag93.xml><?xml version="1.0" encoding="utf-8"?>
<p:tagLst xmlns:p="http://schemas.openxmlformats.org/presentationml/2006/main">
  <p:tag name="KSO_WM_DIAGRAM_VIRTUALLY_FRAME" val="{&quot;height&quot;:250,&quot;left&quot;:60,&quot;top&quot;:130,&quot;width&quot;:870}"/>
</p:tagLst>
</file>

<file path=ppt/tags/tag94.xml><?xml version="1.0" encoding="utf-8"?>
<p:tagLst xmlns:p="http://schemas.openxmlformats.org/presentationml/2006/main">
  <p:tag name="KSO_WM_DIAGRAM_VIRTUALLY_FRAME" val="{&quot;height&quot;:250,&quot;left&quot;:60,&quot;top&quot;:130,&quot;width&quot;:870}"/>
</p:tagLst>
</file>

<file path=ppt/tags/tag95.xml><?xml version="1.0" encoding="utf-8"?>
<p:tagLst xmlns:p="http://schemas.openxmlformats.org/presentationml/2006/main">
  <p:tag name="KSO_WM_DIAGRAM_VIRTUALLY_FRAME" val="{&quot;height&quot;:250,&quot;left&quot;:60,&quot;top&quot;:130,&quot;width&quot;:870}"/>
</p:tagLst>
</file>

<file path=ppt/tags/tag96.xml><?xml version="1.0" encoding="utf-8"?>
<p:tagLst xmlns:p="http://schemas.openxmlformats.org/presentationml/2006/main">
  <p:tag name="KSO_WM_DIAGRAM_VIRTUALLY_FRAME" val="{&quot;height&quot;:250,&quot;left&quot;:60,&quot;top&quot;:130,&quot;width&quot;:870}"/>
</p:tagLst>
</file>

<file path=ppt/tags/tag97.xml><?xml version="1.0" encoding="utf-8"?>
<p:tagLst xmlns:p="http://schemas.openxmlformats.org/presentationml/2006/main">
  <p:tag name="KSO_WM_DIAGRAM_VIRTUALLY_FRAME" val="{&quot;height&quot;:250,&quot;left&quot;:60,&quot;top&quot;:130,&quot;width&quot;:870}"/>
</p:tagLst>
</file>

<file path=ppt/tags/tag98.xml><?xml version="1.0" encoding="utf-8"?>
<p:tagLst xmlns:p="http://schemas.openxmlformats.org/presentationml/2006/main">
  <p:tag name="KSO_WM_DIAGRAM_VIRTUALLY_FRAME" val="{&quot;height&quot;:250,&quot;left&quot;:60,&quot;top&quot;:130,&quot;width&quot;:870}"/>
</p:tagLst>
</file>

<file path=ppt/tags/tag99.xml><?xml version="1.0" encoding="utf-8"?>
<p:tagLst xmlns:p="http://schemas.openxmlformats.org/presentationml/2006/main">
  <p:tag name="KSO_WM_DIAGRAM_VIRTUALLY_FRAME" val="{&quot;height&quot;:250,&quot;left&quot;:60,&quot;top&quot;:130,&quot;width&quot;:870}"/>
</p:tagLst>
</file>

<file path=ppt/tags/tag100.xml><?xml version="1.0" encoding="utf-8"?>
<p:tagLst xmlns:p="http://schemas.openxmlformats.org/presentationml/2006/main">
  <p:tag name="KSO_WM_DIAGRAM_VIRTUALLY_FRAME" val="{&quot;height&quot;:250,&quot;left&quot;:60,&quot;top&quot;:130,&quot;width&quot;:870}"/>
</p:tagLst>
</file>

<file path=ppt/tags/tag101.xml><?xml version="1.0" encoding="utf-8"?>
<p:tagLst xmlns:p="http://schemas.openxmlformats.org/presentationml/2006/main">
  <p:tag name="KSO_WM_DIAGRAM_VIRTUALLY_FRAME" val="{&quot;height&quot;:250,&quot;left&quot;:60,&quot;top&quot;:130,&quot;width&quot;:870}"/>
</p:tagLst>
</file>

<file path=ppt/tags/tag102.xml><?xml version="1.0" encoding="utf-8"?>
<p:tagLst xmlns:p="http://schemas.openxmlformats.org/presentationml/2006/main">
  <p:tag name="KSO_WM_DIAGRAM_VIRTUALLY_FRAME" val="{&quot;height&quot;:250,&quot;left&quot;:60,&quot;top&quot;:130,&quot;width&quot;:870}"/>
</p:tagLst>
</file>

<file path=ppt/tags/tag103.xml><?xml version="1.0" encoding="utf-8"?>
<p:tagLst xmlns:p="http://schemas.openxmlformats.org/presentationml/2006/main">
  <p:tag name="KSO_WM_DIAGRAM_VIRTUALLY_FRAME" val="{&quot;height&quot;:250,&quot;left&quot;:60,&quot;top&quot;:130,&quot;width&quot;:870}"/>
</p:tagLst>
</file>

<file path=ppt/tags/tag104.xml><?xml version="1.0" encoding="utf-8"?>
<p:tagLst xmlns:p="http://schemas.openxmlformats.org/presentationml/2006/main">
  <p:tag name="KSO_WM_DIAGRAM_VIRTUALLY_FRAME" val="{&quot;height&quot;:250,&quot;left&quot;:60,&quot;top&quot;:130,&quot;width&quot;:870}"/>
</p:tagLst>
</file>

<file path=ppt/tags/tag105.xml><?xml version="1.0" encoding="utf-8"?>
<p:tagLst xmlns:p="http://schemas.openxmlformats.org/presentationml/2006/main">
  <p:tag name="KSO_WM_DIAGRAM_VIRTUALLY_FRAME" val="{&quot;height&quot;:250,&quot;left&quot;:60,&quot;top&quot;:130,&quot;width&quot;:870}"/>
</p:tagLst>
</file>

<file path=ppt/tags/tag106.xml><?xml version="1.0" encoding="utf-8"?>
<p:tagLst xmlns:p="http://schemas.openxmlformats.org/presentationml/2006/main">
  <p:tag name="KSO_WM_DIAGRAM_VIRTUALLY_FRAME" val="{&quot;height&quot;:250,&quot;left&quot;:60,&quot;top&quot;:130,&quot;width&quot;:870}"/>
</p:tagLst>
</file>

<file path=ppt/tags/tag107.xml><?xml version="1.0" encoding="utf-8"?>
<p:tagLst xmlns:p="http://schemas.openxmlformats.org/presentationml/2006/main">
  <p:tag name="KSO_WM_DIAGRAM_VIRTUALLY_FRAME" val="{&quot;height&quot;:250,&quot;left&quot;:60,&quot;top&quot;:130,&quot;width&quot;:870}"/>
</p:tagLst>
</file>

<file path=ppt/tags/tag108.xml><?xml version="1.0" encoding="utf-8"?>
<p:tagLst xmlns:p="http://schemas.openxmlformats.org/presentationml/2006/main">
  <p:tag name="KSO_WM_DIAGRAM_VIRTUALLY_FRAME" val="{&quot;height&quot;:250,&quot;left&quot;:60,&quot;top&quot;:130,&quot;width&quot;:87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3208</Words>
  <Application>WPS 演示</Application>
  <PresentationFormat/>
  <Paragraphs>359</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15</vt:i4>
      </vt:variant>
    </vt:vector>
  </HeadingPairs>
  <TitlesOfParts>
    <vt:vector size="27" baseType="lpstr">
      <vt:lpstr>Arial</vt:lpstr>
      <vt:lpstr>宋体</vt:lpstr>
      <vt:lpstr>Wingdings</vt:lpstr>
      <vt:lpstr>Arial</vt:lpstr>
      <vt:lpstr>Noto Sans SC</vt:lpstr>
      <vt:lpstr>微软雅黑</vt:lpstr>
      <vt:lpstr>Arial Unicode MS</vt:lpstr>
      <vt:lpstr>Office 主题​​</vt:lpstr>
      <vt:lpstr>默认主题</vt:lpstr>
      <vt:lpstr>1_默认主题</vt:lpstr>
      <vt:lpstr>2_默认主题</vt:lpstr>
      <vt:lpstr>3_默认主题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博文</cp:lastModifiedBy>
  <cp:revision>10</cp:revision>
  <dcterms:created xsi:type="dcterms:W3CDTF">2026-05-27T08:49:59Z</dcterms:created>
  <dcterms:modified xsi:type="dcterms:W3CDTF">2026-05-27T10:12:21Z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{"Label":"1","ContentProducer":"001191110102MACQD9K64010000","ProduceID":"7644486868960791755","ReservedCode1":"","ContentPropagator":"","PropagateID":"","ReservedCode2":""}</vt:lpwstr>
  </property>
  <property fmtid="{D5CDD505-2E9C-101B-9397-08002B2CF9AE}" pid="3" name="KSOProductBuildVer">
    <vt:lpwstr>2052-12.1.0.26375</vt:lpwstr>
  </property>
  <property fmtid="{D5CDD505-2E9C-101B-9397-08002B2CF9AE}" pid="4" name="ICV">
    <vt:lpwstr>2EB050670CBC4459A785FA793BEC74AB_12</vt:lpwstr>
  </property>
</Properties>
</file>